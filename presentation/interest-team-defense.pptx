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各位老师好，我汇报的项目是“兴趣小队”，一个基于 HarmonyOS 的兴趣活动组队应用。项目围绕发现活动、参与活动和管理小队展开。接下来将依次介绍需求背景、系统设计、核心实现，以及当前成果与改进方向。建议整份答辩控制在 8—10 分钟，封面约 20 秒。
【内容口径】
答辩前请将封面的姓名、班级、指导教师替换为本人信息。图片来自仓库现有轮播素材，未作为真实活动成果使用。
【代码依据】
https://github.com/OldGuestInBreeze/-1/blob/fb2da2190fec521c6c5a0f1534df123d0ff6ebc9/build-profile.json5
https://github.com/OldGuestInBreeze/-1/blob/fb2da2190fec521c6c5a0f1534df123d0ff6ebc9/entry/src/main/ets/pages/Index.ets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项目面向想参加兴趣活动的人和希望组织活动的发起者。我们把需求概括为三个方面：活动信息要容易找到，参加或退出要有清晰反馈，自己发布和参与的活动要方便管理。因此，设计重点是围绕活动建立一条连贯的路径，让兴趣从个人想法转化为组队行动。约 35 秒。
【内容口径】
本页是结合现有功能提炼的场景分析，不包含用户调研样本或量化调查结论。
【代码依据】
https://github.com/OldGuestInBreeze/-1/blob/fb2da2190fec521c6c5a0f1534df123d0ff6ebc9/entry/src/main/ets/view/HomeViewComponent.ets
https://github.com/OldGuestInBreeze/-1/blob/fb2da2190fec521c6c5a0f1534df123d0ff6ebc9/entry/src/main/ets/pages/MyEventPage.ets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功能上可以分为三条线。发现活动解决“去做什么”；参与组队解决“和谁一起”；发布管理服务活动发起者。账户模块提供注册登录、资料和密码管理。这里讲的是已存在的页面和接口调用逻辑，朋友和聊天等预留能力不放在核心成果里。约 40 秒。
【内容口径】
按当前仓库代码说明功能设计，不代表已完成真机或后端联调验证。
【代码依据】
https://github.com/OldGuestInBreeze/-1/blob/fb2da2190fec521c6c5a0f1534df123d0ff6ebc9/entry/src/main/ets/api/EventApi.ets
https://github.com/OldGuestInBreeze/-1/blob/fb2da2190fec521c6c5a0f1534df123d0ff6ebc9/entry/src/main/ets/api/LoginApi.ets
https://github.com/OldGuestInBreeze/-1/blob/fb2da2190fec521c6c5a0f1534df123d0ff6ebc9/entry/src/main/ets/api/UserApi.ets
https://github.com/OldGuestInBreeze/-1/blob/fb2da2190fec521c6c5a0f1534df123d0ff6ebc9/entry/src/main/resources/base/profile/main_pages.json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发起者登录后填写活动内容、上传图片并设置地点，发布后可以管理活动。参与者先浏览或搜索，进入详情，再登录后加入；之后可以在小队页面查看活动与成员，或者评论、退出。这体现了以活动为中心的组织方式。登录检查目前由客户端封装完成，不能等同于服务端授权机制。约 40 秒。
【内容口径】
按当前仓库代码说明功能设计，不代表已完成真机或后端联调验证。
【代码依据】
https://github.com/OldGuestInBreeze/-1/blob/fb2da2190fec521c6c5a0f1534df123d0ff6ebc9/entry/src/main/ets/pages/EventEditPage.ets
https://github.com/OldGuestInBreeze/-1/blob/fb2da2190fec521c6c5a0f1534df123d0ff6ebc9/entry/src/main/ets/pages/EventInfoPage.ets
https://github.com/OldGuestInBreeze/-1/blob/fb2da2190fec521c6c5a0f1534df123d0ff6ebc9/entry/src/main/ets/pages/MyEventPage.ets
https://github.com/OldGuestInBreeze/-1/blob/fb2da2190fec521c6c5a0f1534df123d0ff6ebc9/entry/src/main/ets/utils/UserUtil.ets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客户端使用 HarmonyOS 5.0 API 12，采用 ArkTS 和 ArkUI。页面组件负责展示，api 目录封装业务接口，viewmodel 定义数据模型，utils 统一网络、定位、上传和登录判断。客户端通过 HTTP 与外部服务交互。仓库提供的启动压缩包只有启动脚本，脚本引用 Java JAR、MySQL 以及 Spring 数据源变量，因此后端技术仅按脚本线索说明，不把后端源码视为已核验。约 50 秒。
【内容口径】
按当前仓库代码说明功能设计，不代表已完成真机或后端联调验证。
【代码依据】
https://github.com/OldGuestInBreeze/-1/blob/fb2da2190fec521c6c5a0f1534df123d0ff6ebc9/build-profile.json5
https://github.com/OldGuestInBreeze/-1/blob/fb2da2190fec521c6c5a0f1534df123d0ff6ebc9/entry/src/main/ets/entryability/EntryAbility.ets
https://github.com/OldGuestInBreeze/-1/blob/fb2da2190fec521c6c5a0f1534df123d0ff6ebc9/entry/src/main/ets/utils/HttpRequest.ets
https://github.com/OldGuestInBreeze/-1/blob/fb2da2190fec521c6c5a0f1534df123d0ff6ebc9/tools/interest-team-backend-launcher.zip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核心实体是用户和活动。活动的 userId 表达发起者，评论包含 eventId 和 userId，关联到活动与用户。加入接口使用用户和活动两个标识，成员列表接口按活动查询。EventMember 是前端接收的成员展示模型；Team 直接包含活动名、人数等聚合字段，用于小队卡片。本图表达客户端业务关系，不是数据库 ER 图，也不假设服务端表结构。约 45 秒。
【内容口径】
按当前仓库代码说明功能设计，不代表已完成真机或后端联调验证。
【代码依据】
https://github.com/OldGuestInBreeze/-1/blob/fb2da2190fec521c6c5a0f1534df123d0ff6ebc9/entry/src/main/ets/viewmodel/User.ets
https://github.com/OldGuestInBreeze/-1/blob/fb2da2190fec521c6c5a0f1534df123d0ff6ebc9/entry/src/main/ets/viewmodel/Event.ets
https://github.com/OldGuestInBreeze/-1/blob/fb2da2190fec521c6c5a0f1534df123d0ff6ebc9/entry/src/main/ets/viewmodel/EventComment.ets
https://github.com/OldGuestInBreeze/-1/blob/fb2da2190fec521c6c5a0f1534df123d0ff6ebc9/entry/src/main/ets/viewmodel/EventMember.ets
https://github.com/OldGuestInBreeze/-1/blob/fb2da2190fec521c6c5a0f1534df123d0ff6ebc9/entry/src/main/ets/viewmodel/Team.ets
https://github.com/OldGuestInBreeze/-1/blob/fb2da2190fec521c6c5a0f1534df123d0ff6ebc9/entry/src/main/ets/api/EventApi.ets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首页的思路是先通过轮播和活动卡片吸引浏览，再通过关键词搜索缩小范围。搜索会跳转到列表页，活动卡片进入详情页。本页用仓库图片和页面结构重绘，便于在答辩中看清布局，不是设备运行截图。四个分类图标对应仓库资源，但当前中文标签存在问号占位和分类路由问题，不能宣称分类检索已经验证可用。约 40 秒。
【内容口径】
所有示意界面均非实机截图；不使用示意活动作为真实运营数据。
【代码依据】
https://github.com/OldGuestInBreeze/-1/blob/fb2da2190fec521c6c5a0f1534df123d0ff6ebc9/entry/src/main/ets/view/HomeViewComponent.ets
https://github.com/OldGuestInBreeze/-1/blob/fb2da2190fec521c6c5a0f1534df123d0ff6ebc9/entry/src/main/ets/component/EventComponent.ets
https://github.com/OldGuestInBreeze/-1/blob/fb2da2190fec521c6c5a0f1534df123d0ff6ebc9/entry/src/main/ets/pages/EventListPage.ets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发布页复用同一个页面处理新增和编辑。首先做必填校验；新增活动时调用位置权限申请、定位和逆地理编码来辅助填写地点。图片通过系统选择器选择，复制到缓存后上传，拿到地址再提交业务信息。状态变量阻止上传与发布过程中重复提交。用户拒绝定位或逆地理编码失败时可以手动填写地址；坐标默认值和地址一致性仍需要后续验证。约 50 秒。
【内容口径】
按当前仓库代码说明功能设计，不代表已完成真机或后端联调验证。
【代码依据】
https://github.com/OldGuestInBreeze/-1/blob/fb2da2190fec521c6c5a0f1534df123d0ff6ebc9/entry/src/main/ets/pages/EventEditPage.ets
https://github.com/OldGuestInBreeze/-1/blob/fb2da2190fec521c6c5a0f1534df123d0ff6ebc9/entry/src/main/ets/utils/LocationUtil.ets
https://github.com/OldGuestInBreeze/-1/blob/fb2da2190fec521c6c5a0f1534df123d0ff6ebc9/entry/src/main/ets/utils/UploadUtil.ets
https://github.com/OldGuestInBreeze/-1/blob/fb2da2190fec521c6c5a0f1534df123d0ff6ebc9/entry/src/main/module.json5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详情页根据 state 渲染参与状态：0 为未加入，1 为已加入，2 是发起者的特殊状态。页面加载后查询参与状态；用户操作时先检查登录，通过 joining 标记避免重复请求，再依据接口的布尔返回更新状态。发起者不走普通加入退出逻辑。评论也有空内容校验和提交状态，成功后重新读取列表。约 45 秒。
【内容口径】
按当前仓库代码说明功能设计，不代表已完成真机或后端联调验证。
【代码依据】
https://github.com/OldGuestInBreeze/-1/blob/fb2da2190fec521c6c5a0f1534df123d0ff6ebc9/entry/src/main/ets/pages/EventInfoPage.ets
https://github.com/OldGuestInBreeze/-1/blob/fb2da2190fec521c6c5a0f1534df123d0ff6ebc9/entry/src/main/ets/api/EventApi.ets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参与者通过我的小队进入活动和成员列表，成员可以按昵称筛选，并通过弹层查看资料。发起者在个人中心进入我的活动，可以编辑或删除自己发布的内容。编辑沿用发布页，通过路由参数区分模式；删除增加确认步骤，接口成功后再从本地列表移除。成员页里的好友相关按钮仍不能视为完整好友系统。约 40 秒。
【内容口径】
按当前仓库代码说明功能设计，不代表已完成真机或后端联调验证。
【代码依据】
https://github.com/OldGuestInBreeze/-1/blob/fb2da2190fec521c6c5a0f1534df123d0ff6ebc9/entry/src/main/ets/view/EventViewComponent.ets
https://github.com/OldGuestInBreeze/-1/blob/fb2da2190fec521c6c5a0f1534df123d0ff6ebc9/entry/src/main/ets/pages/TeamListPage.ets
https://github.com/OldGuestInBreeze/-1/blob/fb2da2190fec521c6c5a0f1534df123d0ff6ebc9/entry/src/main/ets/pages/MyEventPage.ets
https://github.com/OldGuestInBreeze/-1/blob/fb2da2190fec521c6c5a0f1534df123d0ff6ebc9/entry/src/main/ets/pages/EventEditPage.ets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工程实现有四个可讲的重点。第一，业务接口统一使用网络封装，减少各页重复解析响应。第二，用 AppStorage 共享用户和登录状态，并用工具函数复用检查。第三，对异步操作设置状态变量，避免快速重复点击。第四，通过页面生命周期和 Tab 可见性触发刷新。它们都来自当前代码，但登录状态目前只是内存状态，不能表述为永久登录或完整安全鉴权。约 45 秒。
【内容口径】
按当前仓库代码说明功能设计，不代表已完成真机或后端联调验证。
【代码依据】
https://github.com/OldGuestInBreeze/-1/blob/fb2da2190fec521c6c5a0f1534df123d0ff6ebc9/entry/src/main/ets/utils/HttpRequest.ets
https://github.com/OldGuestInBreeze/-1/blob/fb2da2190fec521c6c5a0f1534df123d0ff6ebc9/entry/src/main/ets/utils/UserUtil.ets
https://github.com/OldGuestInBreeze/-1/blob/fb2da2190fec521c6c5a0f1534df123d0ff6ebc9/entry/src/main/ets/pages/LoginPage.ets
https://github.com/OldGuestInBreeze/-1/blob/fb2da2190fec521c6c5a0f1534df123d0ff6ebc9/entry/src/main/ets/pages/Index.ets
https://github.com/OldGuestInBreeze/-1/blob/fb2da2190fec521c6c5a0f1534df123d0ff6ebc9/entry/src/main/ets/view/HomeViewComponent.ets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验证分为四组：完整业务流程、输入和重复点击、网络与权限异常，以及管理后的数据刷新。验收目标不仅是能打开页面，还要确认状态和数据一致。仓库已经配置 Hypium 和 Hamock，但当前测试文件主要是字符串断言模板，所以这里给的是验收设计，不宣称测试通过率或覆盖率。答辩前应使用实际设备和后端补齐测试记录。约 40 秒。
【内容口径】
未运行原应用；不提供未经测量的性能数据、通过率或用户增长数据。
【代码依据】
https://github.com/OldGuestInBreeze/-1/blob/fb2da2190fec521c6c5a0f1534df123d0ff6ebc9/oh-package.json5
https://github.com/OldGuestInBreeze/-1/blob/fb2da2190fec521c6c5a0f1534df123d0ff6ebc9/entry/src/test/LocalUnit.test.ets
https://github.com/OldGuestInBreeze/-1/blob/fb2da2190fec521c6c5a0f1534df123d0ff6ebc9/entry/src/ohosTest/ets/test/Ability.test.ets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目前的主要成果是已经有了以活动为中心的客户端实现，覆盖账户、浏览、发布、参与、成员和评论。与此同时，部分源码文案已经是问号占位；分类中引用了未注册的 MapPage；朋友 Tab 当前为空白容器，聊天只是路径常量。后端压缩包没有服务源码或 JAR，因此联调与业务自动化测试还需要真实环境支持。答辩时明确这些边界，更能体现对项目现状的掌握。约 45 秒。
【内容口径】
按当前仓库代码说明功能设计，不代表已完成真机或后端联调验证。
【代码依据】
https://github.com/OldGuestInBreeze/-1/blob/fb2da2190fec521c6c5a0f1534df123d0ff6ebc9/entry/src/main/ets/pages/Index.ets
https://github.com/OldGuestInBreeze/-1/blob/fb2da2190fec521c6c5a0f1534df123d0ff6ebc9/entry/src/main/ets/view/HomeViewComponent.ets
https://github.com/OldGuestInBreeze/-1/blob/fb2da2190fec521c6c5a0f1534df123d0ff6ebc9/entry/src/main/resources/base/profile/main_pages.json
https://github.com/OldGuestInBreeze/-1/blob/fb2da2190fec521c6c5a0f1534df123d0ff6ebc9/entry/src/main/ets/common/Constant.ets
https://github.com/OldGuestInBreeze/-1/blob/fb2da2190fec521c6c5a0f1534df123d0ff6ebc9/tools/interest-team-backend-launcher.zip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后续改进按照优先级分三步。第一步修正文案和路由等基础体验，检查定位与手工地址的一致性。第二步连接真实后端，补齐真机验证、业务测试和部署说明，并核对服务端授权。第三步再扩展好友聊天、地图浏览和推荐能力。推荐在这里是后续方向，当前不能宣称已实现个性化算法。约 35 秒。
【内容口径】
本页为建议的迭代规划，所有列举条目均不作为当前已完成成果。
【代码依据】
https://github.com/OldGuestInBreeze/-1/blob/fb2da2190fec521c6c5a0f1534df123d0ff6ebc9/entry/src/main/ets/view/HomeViewComponent.ets
https://github.com/OldGuestInBreeze/-1/blob/fb2da2190fec521c6c5a0f1534df123d0ff6ebc9/entry/src/main/ets/common/Constant.ets
https://github.com/OldGuestInBreeze/-1/blob/fb2da2190fec521c6c5a0f1534df123d0ff6ebc9/entry/src/main/ets/pages/EventEditPage.ets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【讲解建议】
最后总结一下，兴趣小队围绕发现活动、参与组队和发布管理，将兴趣场景与 HarmonyOS 的页面、状态和原生能力结合起来。当前已经形成主要客户端实现，后续会优先补齐体验、联调和测试，再扩展社交能力。我的汇报完毕，请各位老师批评指正。
【常见追问准备】
1. 为什么选择 HarmonyOS？答：项目目标是实践 ArkTS、ArkUI、Stage 模型，以及定位和图片选择等原生能力。
2. 是否已经实现智能推荐和聊天？答：当前未形成完整实现，列为后续方向。
3. 登录是否有持久化和服务端权限校验？答：客户端使用 AppStorage 内存状态；持久化与服务端授权需要补充或核验。
4. 后端使用什么技术？答：启动脚本显示 Java JAR、MySQL 和 Spring 数据源配置；当前仓库没有后端源码，不能进一步确认内部实现。
5. 测试结果如何？答：目前仓库以模板测试为主，本材料提供验收清单，需要以实际联调和真机记录回答通过情况。
【内容口径】
建议在演示者视图使用逐页备注。材料依据当前默认分支提交 fb2da21 编写。
【代码依据】
https://github.com/OldGuestInBreeze/-1/blob/fb2da2190fec521c6c5a0f1534df123d0ff6ebc9/build-profile.json5
https://github.com/OldGuestInBreeze/-1/blob/fb2da2190fec521c6c5a0f1534df123d0ff6ebc9/entry/src/main/ets/utils/UserUtil.ets
https://github.com/OldGuestInBreeze/-1/blob/fb2da2190fec521c6c5a0f1534df123d0ff6ebc9/tools/interest-team-backend-launcher.zip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ldGuestInBreeze/-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repos\project-1\entry\src\main\resources\base\media\ic_swiper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0"/>
            <a:ext cx="4599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89520" y="0"/>
            <a:ext cx="4599432" cy="6858000"/>
          </a:xfrm>
          <a:prstGeom prst="rect">
            <a:avLst>
              <a:gd name="adj" fmla="val 2386"/>
            </a:avLst>
          </a:prstGeom>
          <a:solidFill>
            <a:srgbClr val="12243E">
              <a:alpha val="77000"/>
            </a:srgbClr>
          </a:solidFill>
          <a:ln w="7620">
            <a:solidFill>
              <a:srgbClr val="12243E">
                <a:alpha val="77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3035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 /  PROJECT DEFENSE</a:t>
            </a:r>
            <a:endParaRPr lang="zh-CN" sz="1200" dirty="0"/>
          </a:p>
        </p:txBody>
      </p:sp>
      <p:sp>
        <p:nvSpPr>
          <p:cNvPr id="5" name="Shape 2"/>
          <p:cNvSpPr/>
          <p:nvPr/>
        </p:nvSpPr>
        <p:spPr>
          <a:xfrm>
            <a:off x="685800" y="1344168"/>
            <a:ext cx="2212848" cy="310896"/>
          </a:xfrm>
          <a:prstGeom prst="roundRect">
            <a:avLst>
              <a:gd name="adj" fmla="val 35294"/>
            </a:avLst>
          </a:prstGeom>
          <a:solidFill>
            <a:srgbClr val="293B55"/>
          </a:solidFill>
          <a:ln w="7620">
            <a:solidFill>
              <a:srgbClr val="293B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0664" y="1353312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兴趣活动 · 轻量组队</a:t>
            </a:r>
            <a:endParaRPr lang="zh-CN" sz="1100" dirty="0"/>
          </a:p>
        </p:txBody>
      </p:sp>
      <p:sp>
        <p:nvSpPr>
          <p:cNvPr id="7" name="Text 4"/>
          <p:cNvSpPr/>
          <p:nvPr/>
        </p:nvSpPr>
        <p:spPr>
          <a:xfrm>
            <a:off x="630936" y="1956816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5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</a:t>
            </a:r>
            <a:endParaRPr lang="zh-CN" sz="5800" dirty="0"/>
          </a:p>
        </p:txBody>
      </p:sp>
      <p:sp>
        <p:nvSpPr>
          <p:cNvPr id="8" name="Text 5"/>
          <p:cNvSpPr/>
          <p:nvPr/>
        </p:nvSpPr>
        <p:spPr>
          <a:xfrm>
            <a:off x="704088" y="3154680"/>
            <a:ext cx="6492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让共同兴趣，成为同行的开始</a:t>
            </a:r>
            <a:endParaRPr lang="zh-CN" sz="2400" dirty="0"/>
          </a:p>
        </p:txBody>
      </p:sp>
      <p:sp>
        <p:nvSpPr>
          <p:cNvPr id="9" name="Text 6"/>
          <p:cNvSpPr/>
          <p:nvPr/>
        </p:nvSpPr>
        <p:spPr>
          <a:xfrm>
            <a:off x="722376" y="3822192"/>
            <a:ext cx="6446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HarmonyOS 的兴趣活动组队应用</a:t>
            </a:r>
            <a:endParaRPr lang="zh-CN" sz="1700" dirty="0"/>
          </a:p>
        </p:txBody>
      </p:sp>
      <p:sp>
        <p:nvSpPr>
          <p:cNvPr id="10" name="Shape 7"/>
          <p:cNvSpPr/>
          <p:nvPr/>
        </p:nvSpPr>
        <p:spPr>
          <a:xfrm>
            <a:off x="722376" y="4745736"/>
            <a:ext cx="585216" cy="45720"/>
          </a:xfrm>
          <a:prstGeom prst="rect">
            <a:avLst>
              <a:gd name="adj" fmla="val 24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" y="518464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答辩人：________    班级：________</a:t>
            </a:r>
            <a:endParaRPr lang="zh-CN" sz="1400" dirty="0"/>
          </a:p>
        </p:txBody>
      </p:sp>
      <p:sp>
        <p:nvSpPr>
          <p:cNvPr id="12" name="Text 9"/>
          <p:cNvSpPr/>
          <p:nvPr/>
        </p:nvSpPr>
        <p:spPr>
          <a:xfrm>
            <a:off x="722376" y="56692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指导教师：________</a:t>
            </a:r>
            <a:endParaRPr lang="zh-CN" sz="1400" dirty="0"/>
          </a:p>
        </p:txBody>
      </p:sp>
      <p:sp>
        <p:nvSpPr>
          <p:cNvPr id="13" name="Shape 10"/>
          <p:cNvSpPr/>
          <p:nvPr/>
        </p:nvSpPr>
        <p:spPr>
          <a:xfrm>
            <a:off x="8961120" y="2560320"/>
            <a:ext cx="1737360" cy="731520"/>
          </a:xfrm>
          <a:prstGeom prst="line">
            <a:avLst/>
          </a:prstGeom>
          <a:noFill/>
          <a:ln w="25400">
            <a:solidFill>
              <a:srgbClr val="91A2B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9235440" y="3291840"/>
            <a:ext cx="1463040" cy="1280160"/>
          </a:xfrm>
          <a:prstGeom prst="line">
            <a:avLst/>
          </a:prstGeom>
          <a:noFill/>
          <a:ln w="25400">
            <a:solidFill>
              <a:srgbClr val="91A2B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 flipV="1">
            <a:off x="8961120" y="2560320"/>
            <a:ext cx="274320" cy="2011680"/>
          </a:xfrm>
          <a:prstGeom prst="line">
            <a:avLst/>
          </a:prstGeom>
          <a:noFill/>
          <a:ln w="25400">
            <a:solidFill>
              <a:srgbClr val="91A2B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94192" y="1947672"/>
            <a:ext cx="1115568" cy="1115568"/>
          </a:xfrm>
          <a:prstGeom prst="ellipse">
            <a:avLst/>
          </a:prstGeom>
          <a:solidFill>
            <a:srgbClr val="213C56"/>
          </a:solidFill>
          <a:ln w="12700">
            <a:solidFill>
              <a:srgbClr val="213C5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94192" y="2221992"/>
            <a:ext cx="11155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</a:t>
            </a:r>
            <a:endParaRPr lang="zh-CN" sz="2100" dirty="0"/>
          </a:p>
        </p:txBody>
      </p:sp>
      <p:sp>
        <p:nvSpPr>
          <p:cNvPr id="18" name="Shape 15"/>
          <p:cNvSpPr/>
          <p:nvPr/>
        </p:nvSpPr>
        <p:spPr>
          <a:xfrm>
            <a:off x="10149840" y="2743200"/>
            <a:ext cx="1115568" cy="1115568"/>
          </a:xfrm>
          <a:prstGeom prst="ellipse">
            <a:avLst/>
          </a:prstGeom>
          <a:solidFill>
            <a:srgbClr val="213C56"/>
          </a:solidFill>
          <a:ln w="12700">
            <a:solidFill>
              <a:srgbClr val="213C5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49840" y="3017520"/>
            <a:ext cx="11155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</a:t>
            </a:r>
            <a:endParaRPr lang="zh-CN" sz="2100" dirty="0"/>
          </a:p>
        </p:txBody>
      </p:sp>
      <p:sp>
        <p:nvSpPr>
          <p:cNvPr id="20" name="Shape 17"/>
          <p:cNvSpPr/>
          <p:nvPr/>
        </p:nvSpPr>
        <p:spPr>
          <a:xfrm>
            <a:off x="8695944" y="4014216"/>
            <a:ext cx="1115568" cy="1115568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95944" y="4288536"/>
            <a:ext cx="11155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小队</a:t>
            </a:r>
            <a:endParaRPr lang="zh-CN" sz="2100" dirty="0"/>
          </a:p>
        </p:txBody>
      </p:sp>
      <p:sp>
        <p:nvSpPr>
          <p:cNvPr id="22" name="Shape 19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3446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24" name="Text 21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/  15</a:t>
            </a:r>
            <a:endParaRPr lang="zh-C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项目背景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让共同兴趣，变成一次真实相聚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从“我想参加”到“我们一起去”，需要一个清晰的活动入口。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03504" y="2185416"/>
            <a:ext cx="3529584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432304"/>
            <a:ext cx="411480" cy="411480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300" dirty="0"/>
          </a:p>
        </p:txBody>
      </p:sp>
      <p:sp>
        <p:nvSpPr>
          <p:cNvPr id="12" name="Text 10"/>
          <p:cNvSpPr/>
          <p:nvPr/>
        </p:nvSpPr>
        <p:spPr>
          <a:xfrm>
            <a:off x="832104" y="3035808"/>
            <a:ext cx="3072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信息分散</a:t>
            </a:r>
            <a:endParaRPr lang="zh-CN" sz="2100" dirty="0"/>
          </a:p>
        </p:txBody>
      </p:sp>
      <p:sp>
        <p:nvSpPr>
          <p:cNvPr id="13" name="Text 11"/>
          <p:cNvSpPr/>
          <p:nvPr/>
        </p:nvSpPr>
        <p:spPr>
          <a:xfrm>
            <a:off x="832104" y="3602736"/>
            <a:ext cx="30723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活动散落在不同渠道</a:t>
            </a:r>
            <a:endParaRPr lang="zh-CN" sz="16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主题、地点不易快速了解</a:t>
            </a:r>
            <a:endParaRPr lang="zh-CN" sz="1600" dirty="0"/>
          </a:p>
        </p:txBody>
      </p:sp>
      <p:sp>
        <p:nvSpPr>
          <p:cNvPr id="14" name="Shape 12"/>
          <p:cNvSpPr/>
          <p:nvPr/>
        </p:nvSpPr>
        <p:spPr>
          <a:xfrm>
            <a:off x="4334256" y="2185416"/>
            <a:ext cx="3529584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62856" y="2432304"/>
            <a:ext cx="411480" cy="411480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300" dirty="0"/>
          </a:p>
        </p:txBody>
      </p:sp>
      <p:sp>
        <p:nvSpPr>
          <p:cNvPr id="17" name="Text 15"/>
          <p:cNvSpPr/>
          <p:nvPr/>
        </p:nvSpPr>
        <p:spPr>
          <a:xfrm>
            <a:off x="4562856" y="3035808"/>
            <a:ext cx="3072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组队不便</a:t>
            </a:r>
            <a:endParaRPr lang="zh-CN" sz="2100" dirty="0"/>
          </a:p>
        </p:txBody>
      </p:sp>
      <p:sp>
        <p:nvSpPr>
          <p:cNvPr id="18" name="Text 16"/>
          <p:cNvSpPr/>
          <p:nvPr/>
        </p:nvSpPr>
        <p:spPr>
          <a:xfrm>
            <a:off x="4562856" y="3602736"/>
            <a:ext cx="30723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有兴趣，却难找同伴</a:t>
            </a:r>
            <a:endParaRPr lang="zh-CN" sz="16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参与状态缺少统一入口</a:t>
            </a:r>
            <a:endParaRPr lang="zh-CN" sz="1600" dirty="0"/>
          </a:p>
        </p:txBody>
      </p:sp>
      <p:sp>
        <p:nvSpPr>
          <p:cNvPr id="19" name="Shape 17"/>
          <p:cNvSpPr/>
          <p:nvPr/>
        </p:nvSpPr>
        <p:spPr>
          <a:xfrm>
            <a:off x="8065008" y="2185416"/>
            <a:ext cx="3529584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2432304"/>
            <a:ext cx="411480" cy="411480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300" dirty="0"/>
          </a:p>
        </p:txBody>
      </p:sp>
      <p:sp>
        <p:nvSpPr>
          <p:cNvPr id="22" name="Text 20"/>
          <p:cNvSpPr/>
          <p:nvPr/>
        </p:nvSpPr>
        <p:spPr>
          <a:xfrm>
            <a:off x="8293608" y="3035808"/>
            <a:ext cx="3072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管理零散</a:t>
            </a:r>
            <a:endParaRPr lang="zh-CN" sz="2100" dirty="0"/>
          </a:p>
        </p:txBody>
      </p:sp>
      <p:sp>
        <p:nvSpPr>
          <p:cNvPr id="23" name="Text 21"/>
          <p:cNvSpPr/>
          <p:nvPr/>
        </p:nvSpPr>
        <p:spPr>
          <a:xfrm>
            <a:off x="8293608" y="3602736"/>
            <a:ext cx="30723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发布、参与和成员查看</a:t>
            </a:r>
            <a:endParaRPr lang="zh-CN" sz="16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需要更连贯的操作路径</a:t>
            </a:r>
            <a:endParaRPr lang="zh-CN" sz="1600" dirty="0"/>
          </a:p>
        </p:txBody>
      </p:sp>
      <p:sp>
        <p:nvSpPr>
          <p:cNvPr id="24" name="Shape 22"/>
          <p:cNvSpPr/>
          <p:nvPr/>
        </p:nvSpPr>
        <p:spPr>
          <a:xfrm>
            <a:off x="603504" y="5102352"/>
            <a:ext cx="10991088" cy="804672"/>
          </a:xfrm>
          <a:prstGeom prst="roundRect">
            <a:avLst>
              <a:gd name="adj" fmla="val 13636"/>
            </a:avLst>
          </a:prstGeom>
          <a:solidFill>
            <a:srgbClr val="12243E"/>
          </a:solidFill>
          <a:ln w="7620">
            <a:solidFill>
              <a:srgbClr val="1224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53218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2404872" y="5257800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以活动为纽带，连接兴趣相近的人</a:t>
            </a:r>
            <a:endParaRPr lang="zh-CN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功能规划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围绕活动，把发现、参与与管理串起来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三个核心模块构成主线，账户能力贯穿整个使用过程。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03504" y="2194560"/>
            <a:ext cx="3529584" cy="2871216"/>
          </a:xfrm>
          <a:prstGeom prst="roundRect">
            <a:avLst>
              <a:gd name="adj" fmla="val 382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44144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889504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发现活动</a:t>
            </a:r>
            <a:endParaRPr lang="zh-CN" sz="2400" dirty="0"/>
          </a:p>
        </p:txBody>
      </p:sp>
      <p:sp>
        <p:nvSpPr>
          <p:cNvPr id="12" name="Shape 10"/>
          <p:cNvSpPr/>
          <p:nvPr/>
        </p:nvSpPr>
        <p:spPr>
          <a:xfrm>
            <a:off x="886968" y="3639312"/>
            <a:ext cx="64008" cy="64008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52044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关键词搜索</a:t>
            </a:r>
            <a:endParaRPr lang="zh-CN" sz="1600" dirty="0"/>
          </a:p>
        </p:txBody>
      </p:sp>
      <p:sp>
        <p:nvSpPr>
          <p:cNvPr id="14" name="Shape 12"/>
          <p:cNvSpPr/>
          <p:nvPr/>
        </p:nvSpPr>
        <p:spPr>
          <a:xfrm>
            <a:off x="886968" y="4041648"/>
            <a:ext cx="64008" cy="64008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922776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轮播与活动卡片</a:t>
            </a:r>
            <a:endParaRPr 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886968" y="4443984"/>
            <a:ext cx="64008" cy="64008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32511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活动详情浏览</a:t>
            </a:r>
            <a:endParaRPr lang="zh-CN" sz="1600" dirty="0"/>
          </a:p>
        </p:txBody>
      </p:sp>
      <p:sp>
        <p:nvSpPr>
          <p:cNvPr id="18" name="Shape 16"/>
          <p:cNvSpPr/>
          <p:nvPr/>
        </p:nvSpPr>
        <p:spPr>
          <a:xfrm>
            <a:off x="4334256" y="2194560"/>
            <a:ext cx="3529584" cy="2871216"/>
          </a:xfrm>
          <a:prstGeom prst="roundRect">
            <a:avLst>
              <a:gd name="adj" fmla="val 382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44144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</a:t>
            </a:r>
            <a:endParaRPr lang="zh-CN" sz="1100" dirty="0"/>
          </a:p>
        </p:txBody>
      </p:sp>
      <p:sp>
        <p:nvSpPr>
          <p:cNvPr id="20" name="Text 18"/>
          <p:cNvSpPr/>
          <p:nvPr/>
        </p:nvSpPr>
        <p:spPr>
          <a:xfrm>
            <a:off x="4581144" y="2889504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参与组队</a:t>
            </a:r>
            <a:endParaRPr lang="zh-CN" sz="2400" dirty="0"/>
          </a:p>
        </p:txBody>
      </p:sp>
      <p:sp>
        <p:nvSpPr>
          <p:cNvPr id="21" name="Shape 19"/>
          <p:cNvSpPr/>
          <p:nvPr/>
        </p:nvSpPr>
        <p:spPr>
          <a:xfrm>
            <a:off x="4617720" y="3639312"/>
            <a:ext cx="64008" cy="64008"/>
          </a:xfrm>
          <a:prstGeom prst="ellipse">
            <a:avLst/>
          </a:prstGeom>
          <a:solidFill>
            <a:srgbClr val="069D95"/>
          </a:solidFill>
          <a:ln w="12700">
            <a:solidFill>
              <a:srgbClr val="069D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352044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 / 退出活动</a:t>
            </a:r>
            <a:endParaRPr lang="zh-CN" sz="1600" dirty="0"/>
          </a:p>
        </p:txBody>
      </p:sp>
      <p:sp>
        <p:nvSpPr>
          <p:cNvPr id="23" name="Shape 21"/>
          <p:cNvSpPr/>
          <p:nvPr/>
        </p:nvSpPr>
        <p:spPr>
          <a:xfrm>
            <a:off x="4617720" y="4041648"/>
            <a:ext cx="64008" cy="64008"/>
          </a:xfrm>
          <a:prstGeom prst="ellipse">
            <a:avLst/>
          </a:prstGeom>
          <a:solidFill>
            <a:srgbClr val="069D95"/>
          </a:solidFill>
          <a:ln w="12700">
            <a:solidFill>
              <a:srgbClr val="069D9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3922776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活动评论互动</a:t>
            </a:r>
            <a:endParaRPr lang="zh-CN" sz="1600" dirty="0"/>
          </a:p>
        </p:txBody>
      </p:sp>
      <p:sp>
        <p:nvSpPr>
          <p:cNvPr id="25" name="Shape 23"/>
          <p:cNvSpPr/>
          <p:nvPr/>
        </p:nvSpPr>
        <p:spPr>
          <a:xfrm>
            <a:off x="4617720" y="4443984"/>
            <a:ext cx="64008" cy="64008"/>
          </a:xfrm>
          <a:prstGeom prst="ellipse">
            <a:avLst/>
          </a:prstGeom>
          <a:solidFill>
            <a:srgbClr val="069D95"/>
          </a:solidFill>
          <a:ln w="12700">
            <a:solidFill>
              <a:srgbClr val="069D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432511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我的小队与成员查看</a:t>
            </a:r>
            <a:endParaRPr lang="zh-CN" sz="1600" dirty="0"/>
          </a:p>
        </p:txBody>
      </p:sp>
      <p:sp>
        <p:nvSpPr>
          <p:cNvPr id="27" name="Shape 25"/>
          <p:cNvSpPr/>
          <p:nvPr/>
        </p:nvSpPr>
        <p:spPr>
          <a:xfrm>
            <a:off x="8065008" y="2194560"/>
            <a:ext cx="3529584" cy="2871216"/>
          </a:xfrm>
          <a:prstGeom prst="roundRect">
            <a:avLst>
              <a:gd name="adj" fmla="val 382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244144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</a:t>
            </a:r>
            <a:endParaRPr lang="zh-CN" sz="1100" dirty="0"/>
          </a:p>
        </p:txBody>
      </p:sp>
      <p:sp>
        <p:nvSpPr>
          <p:cNvPr id="29" name="Text 27"/>
          <p:cNvSpPr/>
          <p:nvPr/>
        </p:nvSpPr>
        <p:spPr>
          <a:xfrm>
            <a:off x="8311896" y="2889504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发布管理</a:t>
            </a:r>
            <a:endParaRPr lang="zh-CN" sz="2400" dirty="0"/>
          </a:p>
        </p:txBody>
      </p:sp>
      <p:sp>
        <p:nvSpPr>
          <p:cNvPr id="30" name="Shape 28"/>
          <p:cNvSpPr/>
          <p:nvPr/>
        </p:nvSpPr>
        <p:spPr>
          <a:xfrm>
            <a:off x="8348472" y="3639312"/>
            <a:ext cx="64008" cy="64008"/>
          </a:xfrm>
          <a:prstGeom prst="ellipse">
            <a:avLst/>
          </a:prstGeom>
          <a:solidFill>
            <a:srgbClr val="12243E"/>
          </a:solidFill>
          <a:ln w="12700">
            <a:solidFill>
              <a:srgbClr val="1224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0496" y="352044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图文与位置发布</a:t>
            </a:r>
            <a:endParaRPr lang="zh-CN" sz="1600" dirty="0"/>
          </a:p>
        </p:txBody>
      </p:sp>
      <p:sp>
        <p:nvSpPr>
          <p:cNvPr id="32" name="Shape 30"/>
          <p:cNvSpPr/>
          <p:nvPr/>
        </p:nvSpPr>
        <p:spPr>
          <a:xfrm>
            <a:off x="8348472" y="4041648"/>
            <a:ext cx="64008" cy="64008"/>
          </a:xfrm>
          <a:prstGeom prst="ellipse">
            <a:avLst/>
          </a:prstGeom>
          <a:solidFill>
            <a:srgbClr val="12243E"/>
          </a:solidFill>
          <a:ln w="12700">
            <a:solidFill>
              <a:srgbClr val="1224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0496" y="3922776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我的活动编辑 / 删除</a:t>
            </a:r>
            <a:endParaRPr lang="zh-CN" sz="1600" dirty="0"/>
          </a:p>
        </p:txBody>
      </p:sp>
      <p:sp>
        <p:nvSpPr>
          <p:cNvPr id="34" name="Shape 32"/>
          <p:cNvSpPr/>
          <p:nvPr/>
        </p:nvSpPr>
        <p:spPr>
          <a:xfrm>
            <a:off x="8348472" y="4443984"/>
            <a:ext cx="64008" cy="64008"/>
          </a:xfrm>
          <a:prstGeom prst="ellipse">
            <a:avLst/>
          </a:prstGeom>
          <a:solidFill>
            <a:srgbClr val="12243E"/>
          </a:solidFill>
          <a:ln w="12700">
            <a:solidFill>
              <a:srgbClr val="1224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0496" y="432511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个人资料与密码修改</a:t>
            </a:r>
            <a:endParaRPr lang="zh-CN" sz="1600" dirty="0"/>
          </a:p>
        </p:txBody>
      </p:sp>
      <p:sp>
        <p:nvSpPr>
          <p:cNvPr id="36" name="Shape 34"/>
          <p:cNvSpPr/>
          <p:nvPr/>
        </p:nvSpPr>
        <p:spPr>
          <a:xfrm>
            <a:off x="621792" y="5458968"/>
            <a:ext cx="1115568" cy="310896"/>
          </a:xfrm>
          <a:prstGeom prst="roundRect">
            <a:avLst>
              <a:gd name="adj" fmla="val 35294"/>
            </a:avLst>
          </a:prstGeom>
          <a:solidFill>
            <a:srgbClr val="12243E"/>
          </a:solidFill>
          <a:ln w="7620">
            <a:solidFill>
              <a:srgbClr val="1224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468112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账户支撑</a:t>
            </a:r>
            <a:endParaRPr lang="zh-CN" sz="1100" dirty="0"/>
          </a:p>
        </p:txBody>
      </p:sp>
      <p:sp>
        <p:nvSpPr>
          <p:cNvPr id="38" name="Text 36"/>
          <p:cNvSpPr/>
          <p:nvPr/>
        </p:nvSpPr>
        <p:spPr>
          <a:xfrm>
            <a:off x="1947672" y="5431536"/>
            <a:ext cx="7223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B2E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注册登录  ·  AppStorage 登录状态  ·  个人中心</a:t>
            </a:r>
            <a:endParaRPr lang="zh-CN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业务流程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一条主线，串起两类用户角色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同一个活动，连接发起者的组织需求与参与者的加入需求。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2496312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12243E"/>
          </a:solidFill>
          <a:ln w="7620">
            <a:solidFill>
              <a:srgbClr val="122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505456"/>
            <a:ext cx="10332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活动发起者</a:t>
            </a:r>
            <a:endParaRPr lang="zh-CN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4041648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069D95"/>
          </a:solidFill>
          <a:ln w="7620">
            <a:solidFill>
              <a:srgbClr val="069D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4050792"/>
            <a:ext cx="10332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活动参与者</a:t>
            </a:r>
            <a:endParaRPr lang="zh-CN" sz="1100" dirty="0"/>
          </a:p>
        </p:txBody>
      </p:sp>
      <p:sp>
        <p:nvSpPr>
          <p:cNvPr id="13" name="Shape 11"/>
          <p:cNvSpPr/>
          <p:nvPr/>
        </p:nvSpPr>
        <p:spPr>
          <a:xfrm>
            <a:off x="1892808" y="225856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459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 / 登录</a:t>
            </a:r>
            <a:endParaRPr lang="zh-CN" sz="1500" dirty="0"/>
          </a:p>
        </p:txBody>
      </p:sp>
      <p:sp>
        <p:nvSpPr>
          <p:cNvPr id="15" name="Shape 13"/>
          <p:cNvSpPr/>
          <p:nvPr/>
        </p:nvSpPr>
        <p:spPr>
          <a:xfrm>
            <a:off x="1892808" y="381304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EAF8F5"/>
          </a:solidFill>
          <a:ln w="7620">
            <a:solidFill>
              <a:srgbClr val="EAF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4014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 / 搜索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3630168" y="2670048"/>
            <a:ext cx="182880" cy="0"/>
          </a:xfrm>
          <a:prstGeom prst="line">
            <a:avLst/>
          </a:prstGeom>
          <a:noFill/>
          <a:ln w="17780">
            <a:solidFill>
              <a:srgbClr val="A6B4C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30168" y="4224528"/>
            <a:ext cx="182880" cy="0"/>
          </a:xfrm>
          <a:prstGeom prst="line">
            <a:avLst/>
          </a:prstGeom>
          <a:noFill/>
          <a:ln w="17780">
            <a:solidFill>
              <a:srgbClr val="069D9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49624" y="225856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22776" y="2459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填写图文位置</a:t>
            </a:r>
            <a:endParaRPr lang="zh-CN" sz="1500" dirty="0"/>
          </a:p>
        </p:txBody>
      </p:sp>
      <p:sp>
        <p:nvSpPr>
          <p:cNvPr id="21" name="Shape 19"/>
          <p:cNvSpPr/>
          <p:nvPr/>
        </p:nvSpPr>
        <p:spPr>
          <a:xfrm>
            <a:off x="3849624" y="381304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EAF8F5"/>
          </a:solidFill>
          <a:ln w="7620">
            <a:solidFill>
              <a:srgbClr val="EAF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2776" y="4014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查看详情</a:t>
            </a:r>
            <a:endParaRPr lang="zh-CN" sz="1500" dirty="0"/>
          </a:p>
        </p:txBody>
      </p:sp>
      <p:sp>
        <p:nvSpPr>
          <p:cNvPr id="23" name="Shape 21"/>
          <p:cNvSpPr/>
          <p:nvPr/>
        </p:nvSpPr>
        <p:spPr>
          <a:xfrm>
            <a:off x="5586984" y="2670048"/>
            <a:ext cx="182880" cy="0"/>
          </a:xfrm>
          <a:prstGeom prst="line">
            <a:avLst/>
          </a:prstGeom>
          <a:noFill/>
          <a:ln w="17780">
            <a:solidFill>
              <a:srgbClr val="A6B4C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86984" y="4224528"/>
            <a:ext cx="182880" cy="0"/>
          </a:xfrm>
          <a:prstGeom prst="line">
            <a:avLst/>
          </a:prstGeom>
          <a:noFill/>
          <a:ln w="17780">
            <a:solidFill>
              <a:srgbClr val="069D9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06440" y="225856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2459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发布活动</a:t>
            </a:r>
            <a:endParaRPr lang="zh-CN" sz="1500" dirty="0"/>
          </a:p>
        </p:txBody>
      </p:sp>
      <p:sp>
        <p:nvSpPr>
          <p:cNvPr id="27" name="Shape 25"/>
          <p:cNvSpPr/>
          <p:nvPr/>
        </p:nvSpPr>
        <p:spPr>
          <a:xfrm>
            <a:off x="5806440" y="381304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EAF8F5"/>
          </a:solidFill>
          <a:ln w="7620">
            <a:solidFill>
              <a:srgbClr val="EAF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9592" y="4014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登录后加入</a:t>
            </a:r>
            <a:endParaRPr lang="zh-CN" sz="1500" dirty="0"/>
          </a:p>
        </p:txBody>
      </p:sp>
      <p:sp>
        <p:nvSpPr>
          <p:cNvPr id="29" name="Shape 27"/>
          <p:cNvSpPr/>
          <p:nvPr/>
        </p:nvSpPr>
        <p:spPr>
          <a:xfrm>
            <a:off x="7543800" y="2670048"/>
            <a:ext cx="182880" cy="0"/>
          </a:xfrm>
          <a:prstGeom prst="line">
            <a:avLst/>
          </a:prstGeom>
          <a:noFill/>
          <a:ln w="17780">
            <a:solidFill>
              <a:srgbClr val="A6B4C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543800" y="4224528"/>
            <a:ext cx="182880" cy="0"/>
          </a:xfrm>
          <a:prstGeom prst="line">
            <a:avLst/>
          </a:prstGeom>
          <a:noFill/>
          <a:ln w="17780">
            <a:solidFill>
              <a:srgbClr val="069D9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763256" y="225856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36408" y="2459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查看成员</a:t>
            </a:r>
            <a:endParaRPr lang="zh-CN" sz="1500" dirty="0"/>
          </a:p>
        </p:txBody>
      </p:sp>
      <p:sp>
        <p:nvSpPr>
          <p:cNvPr id="33" name="Shape 31"/>
          <p:cNvSpPr/>
          <p:nvPr/>
        </p:nvSpPr>
        <p:spPr>
          <a:xfrm>
            <a:off x="7763256" y="381304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EAF8F5"/>
          </a:solidFill>
          <a:ln w="7620">
            <a:solidFill>
              <a:srgbClr val="EAF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36408" y="4014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查看小队</a:t>
            </a:r>
            <a:endParaRPr lang="zh-CN" sz="1500" dirty="0"/>
          </a:p>
        </p:txBody>
      </p:sp>
      <p:sp>
        <p:nvSpPr>
          <p:cNvPr id="35" name="Shape 33"/>
          <p:cNvSpPr/>
          <p:nvPr/>
        </p:nvSpPr>
        <p:spPr>
          <a:xfrm>
            <a:off x="9500616" y="2670048"/>
            <a:ext cx="182880" cy="0"/>
          </a:xfrm>
          <a:prstGeom prst="line">
            <a:avLst/>
          </a:prstGeom>
          <a:noFill/>
          <a:ln w="17780">
            <a:solidFill>
              <a:srgbClr val="A6B4C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00616" y="4224528"/>
            <a:ext cx="182880" cy="0"/>
          </a:xfrm>
          <a:prstGeom prst="line">
            <a:avLst/>
          </a:prstGeom>
          <a:noFill/>
          <a:ln w="17780">
            <a:solidFill>
              <a:srgbClr val="069D9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20072" y="225856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93224" y="2459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 / 删除</a:t>
            </a:r>
            <a:endParaRPr lang="zh-CN" sz="1500" dirty="0"/>
          </a:p>
        </p:txBody>
      </p:sp>
      <p:sp>
        <p:nvSpPr>
          <p:cNvPr id="39" name="Shape 37"/>
          <p:cNvSpPr/>
          <p:nvPr/>
        </p:nvSpPr>
        <p:spPr>
          <a:xfrm>
            <a:off x="9720072" y="381304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EAF8F5"/>
          </a:solidFill>
          <a:ln w="7620">
            <a:solidFill>
              <a:srgbClr val="EAF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93224" y="4014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 / 退出</a:t>
            </a:r>
            <a:endParaRPr lang="zh-CN" sz="1500" dirty="0"/>
          </a:p>
        </p:txBody>
      </p:sp>
      <p:sp>
        <p:nvSpPr>
          <p:cNvPr id="41" name="Shape 39"/>
          <p:cNvSpPr/>
          <p:nvPr/>
        </p:nvSpPr>
        <p:spPr>
          <a:xfrm>
            <a:off x="6656832" y="3108960"/>
            <a:ext cx="0" cy="658368"/>
          </a:xfrm>
          <a:prstGeom prst="line">
            <a:avLst/>
          </a:prstGeom>
          <a:noFill/>
          <a:ln w="25400">
            <a:solidFill>
              <a:srgbClr val="FF526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33488" y="3282696"/>
            <a:ext cx="1920240" cy="310896"/>
          </a:xfrm>
          <a:prstGeom prst="roundRect">
            <a:avLst>
              <a:gd name="adj" fmla="val 35294"/>
            </a:avLst>
          </a:prstGeom>
          <a:solidFill>
            <a:srgbClr val="FFF0F2"/>
          </a:solidFill>
          <a:ln w="7620">
            <a:solidFill>
              <a:srgbClr val="FFF0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88352" y="329184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活动成为连接点</a:t>
            </a:r>
            <a:endParaRPr lang="zh-CN" sz="1100" dirty="0"/>
          </a:p>
        </p:txBody>
      </p:sp>
      <p:sp>
        <p:nvSpPr>
          <p:cNvPr id="44" name="Shape 42"/>
          <p:cNvSpPr/>
          <p:nvPr/>
        </p:nvSpPr>
        <p:spPr>
          <a:xfrm>
            <a:off x="621792" y="5166360"/>
            <a:ext cx="1095451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" y="5330952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交互约束</a:t>
            </a:r>
            <a:endParaRPr lang="zh-CN" sz="1500" dirty="0"/>
          </a:p>
        </p:txBody>
      </p:sp>
      <p:sp>
        <p:nvSpPr>
          <p:cNvPr id="46" name="Text 44"/>
          <p:cNvSpPr/>
          <p:nvPr/>
        </p:nvSpPr>
        <p:spPr>
          <a:xfrm>
            <a:off x="2331720" y="531266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B2E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浏览开放  ·  关键操作检查登录状态  ·  操作成功后更新页面</a:t>
            </a:r>
            <a:endParaRPr lang="zh-CN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技术架构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分层设计，让页面与业务职责更清晰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5.0 / API 12  ·  ArkTS  ·  ArkUI  ·  Stage 模型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12648" y="2103120"/>
            <a:ext cx="67665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042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客户端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877824" y="2852928"/>
            <a:ext cx="6199632" cy="73152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762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页面与组件</a:t>
            </a:r>
            <a:endParaRPr lang="zh-CN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2935224"/>
            <a:ext cx="3968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pages / view / component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23697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活动、成员、账户界面</a:t>
            </a:r>
            <a:endParaRPr lang="zh-CN" sz="1200" dirty="0"/>
          </a:p>
        </p:txBody>
      </p:sp>
      <p:sp>
        <p:nvSpPr>
          <p:cNvPr id="15" name="Shape 13"/>
          <p:cNvSpPr/>
          <p:nvPr/>
        </p:nvSpPr>
        <p:spPr>
          <a:xfrm>
            <a:off x="877824" y="3749040"/>
            <a:ext cx="6199632" cy="731520"/>
          </a:xfrm>
          <a:prstGeom prst="roundRect">
            <a:avLst>
              <a:gd name="adj" fmla="val 15000"/>
            </a:avLst>
          </a:prstGeom>
          <a:solidFill>
            <a:srgbClr val="EAF0FA"/>
          </a:solidFill>
          <a:ln w="7620">
            <a:solidFill>
              <a:srgbClr val="EAF0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877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业务接口与模型</a:t>
            </a:r>
            <a:endParaRPr lang="zh-CN" sz="1600" dirty="0"/>
          </a:p>
        </p:txBody>
      </p:sp>
      <p:sp>
        <p:nvSpPr>
          <p:cNvPr id="17" name="Text 15"/>
          <p:cNvSpPr/>
          <p:nvPr/>
        </p:nvSpPr>
        <p:spPr>
          <a:xfrm>
            <a:off x="2834640" y="3831336"/>
            <a:ext cx="3968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/ viewmodel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413308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EventApi、User、Event 等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877824" y="4645152"/>
            <a:ext cx="6199632" cy="73152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762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公共能力</a:t>
            </a:r>
            <a:endParaRPr lang="zh-CN" sz="1600" dirty="0"/>
          </a:p>
        </p:txBody>
      </p:sp>
      <p:sp>
        <p:nvSpPr>
          <p:cNvPr id="21" name="Text 19"/>
          <p:cNvSpPr/>
          <p:nvPr/>
        </p:nvSpPr>
        <p:spPr>
          <a:xfrm>
            <a:off x="2834640" y="4727448"/>
            <a:ext cx="3968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utils / common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5029200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网络、登录、定位、上传</a:t>
            </a:r>
            <a:endParaRPr lang="zh-CN" sz="1200" dirty="0"/>
          </a:p>
        </p:txBody>
      </p:sp>
      <p:sp>
        <p:nvSpPr>
          <p:cNvPr id="23" name="Shape 21"/>
          <p:cNvSpPr/>
          <p:nvPr/>
        </p:nvSpPr>
        <p:spPr>
          <a:xfrm>
            <a:off x="7434072" y="3749040"/>
            <a:ext cx="813816" cy="0"/>
          </a:xfrm>
          <a:prstGeom prst="line">
            <a:avLst/>
          </a:prstGeom>
          <a:noFill/>
          <a:ln w="25400">
            <a:solidFill>
              <a:srgbClr val="FF526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488936" y="301752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zh-CN" sz="1200" dirty="0"/>
          </a:p>
          <a:p>
            <a:pPr algn="ctr" indent="0" marL="0">
              <a:buNone/>
            </a:pPr>
            <a:r>
              <a:rPr lang="zh-CN" altLang="en-US" sz="12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zh-CN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2103120"/>
            <a:ext cx="3246120" cy="1609344"/>
          </a:xfrm>
          <a:prstGeom prst="roundRect">
            <a:avLst>
              <a:gd name="adj" fmla="val 6818"/>
            </a:avLst>
          </a:prstGeom>
          <a:solidFill>
            <a:srgbClr val="12243E"/>
          </a:solidFill>
          <a:ln w="7620">
            <a:solidFill>
              <a:srgbClr val="1224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235915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外部业务服务</a:t>
            </a:r>
            <a:endParaRPr lang="zh-CN" sz="2200" dirty="0"/>
          </a:p>
        </p:txBody>
      </p:sp>
      <p:sp>
        <p:nvSpPr>
          <p:cNvPr id="27" name="Text 25"/>
          <p:cNvSpPr/>
          <p:nvPr/>
        </p:nvSpPr>
        <p:spPr>
          <a:xfrm>
            <a:off x="8595360" y="29260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活动 / 成员 / 评论</a:t>
            </a:r>
            <a:endParaRPr lang="zh-CN" sz="1300" dirty="0"/>
          </a:p>
        </p:txBody>
      </p:sp>
      <p:sp>
        <p:nvSpPr>
          <p:cNvPr id="28" name="Shape 26"/>
          <p:cNvSpPr/>
          <p:nvPr/>
        </p:nvSpPr>
        <p:spPr>
          <a:xfrm>
            <a:off x="9948672" y="3767328"/>
            <a:ext cx="0" cy="329184"/>
          </a:xfrm>
          <a:prstGeom prst="line">
            <a:avLst/>
          </a:prstGeom>
          <a:noFill/>
          <a:ln w="17780">
            <a:solidFill>
              <a:srgbClr val="A6B4C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321040" y="4169664"/>
            <a:ext cx="3246120" cy="1773936"/>
          </a:xfrm>
          <a:prstGeom prst="roundRect">
            <a:avLst>
              <a:gd name="adj" fmla="val 6186"/>
            </a:avLst>
          </a:prstGeom>
          <a:solidFill>
            <a:srgbClr val="EAF0FA"/>
          </a:solidFill>
          <a:ln w="7620">
            <a:solidFill>
              <a:srgbClr val="EAF0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439826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启动脚本线索</a:t>
            </a:r>
            <a:endParaRPr lang="zh-CN" sz="1700" dirty="0"/>
          </a:p>
        </p:txBody>
      </p:sp>
      <p:sp>
        <p:nvSpPr>
          <p:cNvPr id="31" name="Text 29"/>
          <p:cNvSpPr/>
          <p:nvPr/>
        </p:nvSpPr>
        <p:spPr>
          <a:xfrm>
            <a:off x="8595360" y="486460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JAR + MySQL</a:t>
            </a:r>
            <a:endParaRPr lang="zh-CN" sz="1400" dirty="0"/>
          </a:p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Spring 数据源配置</a:t>
            </a:r>
            <a:endParaRPr lang="zh-CN" sz="1400" dirty="0"/>
          </a:p>
        </p:txBody>
      </p:sp>
      <p:sp>
        <p:nvSpPr>
          <p:cNvPr id="32" name="Text 30"/>
          <p:cNvSpPr/>
          <p:nvPr/>
        </p:nvSpPr>
        <p:spPr>
          <a:xfrm>
            <a:off x="8595360" y="5532120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后端源码未包含在当前仓库</a:t>
            </a:r>
            <a:endParaRPr lang="zh-CN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数据设计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以活动为中心组织数据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客户端模型关系示意；字段与关联来自模型定义及接口参数，非数据库表结构。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3255264" y="3172968"/>
            <a:ext cx="1426464" cy="0"/>
          </a:xfrm>
          <a:prstGeom prst="line">
            <a:avLst/>
          </a:prstGeom>
          <a:noFill/>
          <a:ln w="17780">
            <a:solidFill>
              <a:srgbClr val="FF52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81344" y="3931920"/>
            <a:ext cx="0" cy="393192"/>
          </a:xfrm>
          <a:prstGeom prst="line">
            <a:avLst/>
          </a:prstGeom>
          <a:noFill/>
          <a:ln w="17780">
            <a:solidFill>
              <a:srgbClr val="069D9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54112" y="3172968"/>
            <a:ext cx="731520" cy="0"/>
          </a:xfrm>
          <a:prstGeom prst="line">
            <a:avLst/>
          </a:prstGeom>
          <a:noFill/>
          <a:ln w="17780">
            <a:solidFill>
              <a:srgbClr val="FF52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47672" y="3931920"/>
            <a:ext cx="0" cy="978408"/>
          </a:xfrm>
          <a:prstGeom prst="line">
            <a:avLst/>
          </a:prstGeom>
          <a:noFill/>
          <a:ln w="17780">
            <a:solidFill>
              <a:srgbClr val="069D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7672" y="4910328"/>
            <a:ext cx="2715768" cy="0"/>
          </a:xfrm>
          <a:prstGeom prst="line">
            <a:avLst/>
          </a:prstGeom>
          <a:noFill/>
          <a:ln w="17780">
            <a:solidFill>
              <a:srgbClr val="069D9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2350008"/>
            <a:ext cx="263347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350008"/>
            <a:ext cx="54864" cy="1600200"/>
          </a:xfrm>
          <a:prstGeom prst="rect">
            <a:avLst>
              <a:gd name="adj" fmla="val 20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48716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285292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zh-CN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191256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· name · headImg</a:t>
            </a:r>
            <a:endParaRPr lang="zh-CN" sz="1100" dirty="0"/>
          </a:p>
          <a:p>
            <a:pPr indent="0" marL="0">
              <a:buNone/>
            </a:pPr>
            <a:r>
              <a:rPr lang="zh-CN" altLang="en-US" sz="11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 · lon · lat</a:t>
            </a:r>
            <a:endParaRPr lang="zh-CN" sz="1100" dirty="0"/>
          </a:p>
        </p:txBody>
      </p:sp>
      <p:sp>
        <p:nvSpPr>
          <p:cNvPr id="19" name="Shape 17"/>
          <p:cNvSpPr/>
          <p:nvPr/>
        </p:nvSpPr>
        <p:spPr>
          <a:xfrm>
            <a:off x="4700016" y="2350008"/>
            <a:ext cx="303580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2350008"/>
            <a:ext cx="54864" cy="1600200"/>
          </a:xfrm>
          <a:prstGeom prst="rect">
            <a:avLst>
              <a:gd name="adj" fmla="val 20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248716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882896" y="28529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</a:t>
            </a:r>
            <a:endParaRPr lang="zh-CN" sz="1300" dirty="0"/>
          </a:p>
        </p:txBody>
      </p:sp>
      <p:sp>
        <p:nvSpPr>
          <p:cNvPr id="23" name="Text 21"/>
          <p:cNvSpPr/>
          <p:nvPr/>
        </p:nvSpPr>
        <p:spPr>
          <a:xfrm>
            <a:off x="4882896" y="3191256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· userId · name · intro</a:t>
            </a:r>
            <a:endParaRPr lang="zh-CN" sz="1100" dirty="0"/>
          </a:p>
          <a:p>
            <a:pPr indent="0" marL="0">
              <a:buNone/>
            </a:pPr>
            <a:r>
              <a:rPr lang="zh-CN" altLang="en-US" sz="11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 · headImg · lon · lat</a:t>
            </a:r>
            <a:endParaRPr lang="zh-CN" sz="1100" dirty="0"/>
          </a:p>
        </p:txBody>
      </p:sp>
      <p:sp>
        <p:nvSpPr>
          <p:cNvPr id="24" name="Shape 22"/>
          <p:cNvSpPr/>
          <p:nvPr/>
        </p:nvSpPr>
        <p:spPr>
          <a:xfrm>
            <a:off x="8522208" y="2350008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22208" y="2350008"/>
            <a:ext cx="54864" cy="1600200"/>
          </a:xfrm>
          <a:prstGeom prst="rect">
            <a:avLst>
              <a:gd name="adj" fmla="val 20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05088" y="2487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EventComment</a:t>
            </a:r>
            <a:endParaRPr lang="zh-CN" sz="1800" dirty="0"/>
          </a:p>
        </p:txBody>
      </p:sp>
      <p:sp>
        <p:nvSpPr>
          <p:cNvPr id="27" name="Text 25"/>
          <p:cNvSpPr/>
          <p:nvPr/>
        </p:nvSpPr>
        <p:spPr>
          <a:xfrm>
            <a:off x="8705088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活动评论</a:t>
            </a:r>
            <a:endParaRPr lang="zh-CN" sz="1300" dirty="0"/>
          </a:p>
        </p:txBody>
      </p:sp>
      <p:sp>
        <p:nvSpPr>
          <p:cNvPr id="28" name="Text 26"/>
          <p:cNvSpPr/>
          <p:nvPr/>
        </p:nvSpPr>
        <p:spPr>
          <a:xfrm>
            <a:off x="8705088" y="319125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eventId · userId</a:t>
            </a:r>
            <a:endParaRPr lang="zh-CN" sz="1100" dirty="0"/>
          </a:p>
          <a:p>
            <a:pPr indent="0" marL="0">
              <a:buNone/>
            </a:pPr>
            <a:r>
              <a:rPr lang="zh-CN" altLang="en-US" sz="11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 · createTime</a:t>
            </a:r>
            <a:endParaRPr lang="zh-CN" sz="1100" dirty="0"/>
          </a:p>
        </p:txBody>
      </p:sp>
      <p:sp>
        <p:nvSpPr>
          <p:cNvPr id="29" name="Shape 27"/>
          <p:cNvSpPr/>
          <p:nvPr/>
        </p:nvSpPr>
        <p:spPr>
          <a:xfrm>
            <a:off x="4700016" y="4389120"/>
            <a:ext cx="3035808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4389120"/>
            <a:ext cx="54864" cy="1399032"/>
          </a:xfrm>
          <a:prstGeom prst="rect">
            <a:avLst>
              <a:gd name="adj" fmla="val 200000"/>
            </a:avLst>
          </a:prstGeom>
          <a:solidFill>
            <a:srgbClr val="069D95"/>
          </a:solidFill>
          <a:ln w="7620">
            <a:solidFill>
              <a:srgbClr val="069D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452628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EventMember</a:t>
            </a:r>
            <a:endParaRPr lang="zh-CN" sz="1800" dirty="0"/>
          </a:p>
        </p:txBody>
      </p:sp>
      <p:sp>
        <p:nvSpPr>
          <p:cNvPr id="32" name="Text 30"/>
          <p:cNvSpPr/>
          <p:nvPr/>
        </p:nvSpPr>
        <p:spPr>
          <a:xfrm>
            <a:off x="4882896" y="489204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成员展示模型</a:t>
            </a:r>
            <a:endParaRPr lang="zh-CN" sz="1300" dirty="0"/>
          </a:p>
        </p:txBody>
      </p:sp>
      <p:sp>
        <p:nvSpPr>
          <p:cNvPr id="33" name="Text 31"/>
          <p:cNvSpPr/>
          <p:nvPr/>
        </p:nvSpPr>
        <p:spPr>
          <a:xfrm>
            <a:off x="4882896" y="5230368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userId · name · addr · apply</a:t>
            </a:r>
            <a:endParaRPr lang="zh-CN" sz="1100" dirty="0"/>
          </a:p>
        </p:txBody>
      </p:sp>
      <p:sp>
        <p:nvSpPr>
          <p:cNvPr id="34" name="Shape 32"/>
          <p:cNvSpPr/>
          <p:nvPr/>
        </p:nvSpPr>
        <p:spPr>
          <a:xfrm>
            <a:off x="8522208" y="4389120"/>
            <a:ext cx="301752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22208" y="4389120"/>
            <a:ext cx="54864" cy="1399032"/>
          </a:xfrm>
          <a:prstGeom prst="rect">
            <a:avLst>
              <a:gd name="adj" fmla="val 200000"/>
            </a:avLst>
          </a:prstGeom>
          <a:solidFill>
            <a:srgbClr val="069D95"/>
          </a:solidFill>
          <a:ln w="7620">
            <a:solidFill>
              <a:srgbClr val="069D9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05088" y="4526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</a:t>
            </a:r>
            <a:endParaRPr lang="zh-CN" sz="1800" dirty="0"/>
          </a:p>
        </p:txBody>
      </p:sp>
      <p:sp>
        <p:nvSpPr>
          <p:cNvPr id="37" name="Text 35"/>
          <p:cNvSpPr/>
          <p:nvPr/>
        </p:nvSpPr>
        <p:spPr>
          <a:xfrm>
            <a:off x="8705088" y="4892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小队列表聚合模型</a:t>
            </a:r>
            <a:endParaRPr lang="zh-CN" sz="1300" dirty="0"/>
          </a:p>
        </p:txBody>
      </p:sp>
      <p:sp>
        <p:nvSpPr>
          <p:cNvPr id="38" name="Text 36"/>
          <p:cNvSpPr/>
          <p:nvPr/>
        </p:nvSpPr>
        <p:spPr>
          <a:xfrm>
            <a:off x="8705088" y="523036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eventId · eventName</a:t>
            </a:r>
            <a:endParaRPr lang="zh-CN" sz="1100" dirty="0"/>
          </a:p>
          <a:p>
            <a:pPr indent="0" marL="0">
              <a:buNone/>
            </a:pPr>
            <a:r>
              <a:rPr lang="zh-CN" altLang="en-US" sz="11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memberCount · createUserId</a:t>
            </a:r>
            <a:endParaRPr lang="zh-CN" sz="1100" dirty="0"/>
          </a:p>
        </p:txBody>
      </p:sp>
      <p:sp>
        <p:nvSpPr>
          <p:cNvPr id="39" name="Text 37"/>
          <p:cNvSpPr/>
          <p:nvPr/>
        </p:nvSpPr>
        <p:spPr>
          <a:xfrm>
            <a:off x="3364992" y="270662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  1:N</a:t>
            </a:r>
            <a:endParaRPr lang="zh-CN" sz="1200" dirty="0"/>
          </a:p>
        </p:txBody>
      </p:sp>
      <p:sp>
        <p:nvSpPr>
          <p:cNvPr id="40" name="Text 38"/>
          <p:cNvSpPr/>
          <p:nvPr/>
        </p:nvSpPr>
        <p:spPr>
          <a:xfrm>
            <a:off x="7845552" y="2724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</a:t>
            </a:r>
            <a:endParaRPr lang="zh-CN" sz="1200" dirty="0"/>
          </a:p>
        </p:txBody>
      </p:sp>
      <p:sp>
        <p:nvSpPr>
          <p:cNvPr id="41" name="Text 39"/>
          <p:cNvSpPr/>
          <p:nvPr/>
        </p:nvSpPr>
        <p:spPr>
          <a:xfrm>
            <a:off x="2331720" y="4590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按活动查询成员</a:t>
            </a:r>
            <a:endParaRPr lang="zh-CN" sz="1200" dirty="0"/>
          </a:p>
        </p:txBody>
      </p:sp>
      <p:sp>
        <p:nvSpPr>
          <p:cNvPr id="42" name="Text 40"/>
          <p:cNvSpPr/>
          <p:nvPr/>
        </p:nvSpPr>
        <p:spPr>
          <a:xfrm>
            <a:off x="713232" y="5276088"/>
            <a:ext cx="3502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用户通过加入接口关联活动</a:t>
            </a:r>
            <a:endParaRPr lang="zh-CN" sz="1300" dirty="0"/>
          </a:p>
        </p:txBody>
      </p:sp>
      <p:sp>
        <p:nvSpPr>
          <p:cNvPr id="43" name="Shape 41"/>
          <p:cNvSpPr/>
          <p:nvPr/>
        </p:nvSpPr>
        <p:spPr>
          <a:xfrm>
            <a:off x="7808976" y="5074920"/>
            <a:ext cx="630936" cy="0"/>
          </a:xfrm>
          <a:prstGeom prst="line">
            <a:avLst/>
          </a:prstGeom>
          <a:noFill/>
          <a:ln w="19050">
            <a:solidFill>
              <a:srgbClr val="069D95"/>
            </a:solidFill>
            <a:prstDash val="dash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744968" y="5559552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00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展示聚合</a:t>
            </a:r>
            <a:endParaRPr lang="zh-CN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核心功能 · 发现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发现活动：先看见，再找到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用“搜索 + 内容展示 + 详情入口”缩短用户寻找活动的路径。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1069848" y="2048256"/>
            <a:ext cx="2514600" cy="4142232"/>
          </a:xfrm>
          <a:prstGeom prst="roundRect">
            <a:avLst>
              <a:gd name="adj" fmla="val 4364"/>
            </a:avLst>
          </a:prstGeom>
          <a:solidFill>
            <a:srgbClr val="E0E6EF"/>
          </a:solidFill>
          <a:ln w="7620">
            <a:solidFill>
              <a:srgbClr val="E0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984248"/>
            <a:ext cx="2514600" cy="4142232"/>
          </a:xfrm>
          <a:prstGeom prst="roundRect">
            <a:avLst>
              <a:gd name="adj" fmla="val 4364"/>
            </a:avLst>
          </a:prstGeom>
          <a:solidFill>
            <a:srgbClr val="12243E"/>
          </a:solidFill>
          <a:ln w="7620">
            <a:solidFill>
              <a:srgbClr val="1224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2048256"/>
            <a:ext cx="2386584" cy="401421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103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b="1" dirty="0">
                <a:solidFill>
                  <a:srgbClr val="1B2E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9:41</a:t>
            </a:r>
            <a:endParaRPr lang="zh-CN" sz="800" dirty="0"/>
          </a:p>
        </p:txBody>
      </p:sp>
      <p:sp>
        <p:nvSpPr>
          <p:cNvPr id="13" name="Shape 11"/>
          <p:cNvSpPr/>
          <p:nvPr/>
        </p:nvSpPr>
        <p:spPr>
          <a:xfrm>
            <a:off x="1988820" y="2112264"/>
            <a:ext cx="548640" cy="91440"/>
          </a:xfrm>
          <a:prstGeom prst="roundRect">
            <a:avLst>
              <a:gd name="adj" fmla="val 120000"/>
            </a:avLst>
          </a:prstGeom>
          <a:solidFill>
            <a:srgbClr val="12243E"/>
          </a:solidFill>
          <a:ln w="7620">
            <a:solidFill>
              <a:srgbClr val="1224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15668" y="5971032"/>
            <a:ext cx="694944" cy="36576"/>
          </a:xfrm>
          <a:prstGeom prst="roundRect">
            <a:avLst>
              <a:gd name="adj" fmla="val 300000"/>
            </a:avLst>
          </a:prstGeom>
          <a:solidFill>
            <a:srgbClr val="12243E"/>
          </a:solidFill>
          <a:ln w="7620">
            <a:solidFill>
              <a:srgbClr val="1224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97864" y="2359152"/>
            <a:ext cx="2130552" cy="274320"/>
          </a:xfrm>
          <a:prstGeom prst="roundRect">
            <a:avLst>
              <a:gd name="adj" fmla="val 40000"/>
            </a:avLst>
          </a:prstGeom>
          <a:solidFill>
            <a:srgbClr val="F4F6FA"/>
          </a:solidFill>
          <a:ln w="762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搜索感兴趣的活动</a:t>
            </a:r>
            <a:endParaRPr lang="zh-CN" sz="900" dirty="0"/>
          </a:p>
        </p:txBody>
      </p:sp>
      <p:pic>
        <p:nvPicPr>
          <p:cNvPr id="17" name="Image 0" descr="C:\Users\Administrator\repos\project-1\entry\src\main\resources\base\media\ic_swiper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752344"/>
            <a:ext cx="2148840" cy="10149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89304" y="291693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兴趣探索</a:t>
            </a:r>
            <a:endParaRPr lang="zh-CN" sz="1600" dirty="0"/>
          </a:p>
        </p:txBody>
      </p:sp>
      <p:sp>
        <p:nvSpPr>
          <p:cNvPr id="19" name="Shape 16"/>
          <p:cNvSpPr/>
          <p:nvPr/>
        </p:nvSpPr>
        <p:spPr>
          <a:xfrm>
            <a:off x="1307592" y="3922776"/>
            <a:ext cx="256032" cy="256032"/>
          </a:xfrm>
          <a:prstGeom prst="ellipse">
            <a:avLst/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07008" y="4224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zh-CN" sz="800" dirty="0"/>
          </a:p>
        </p:txBody>
      </p:sp>
      <p:sp>
        <p:nvSpPr>
          <p:cNvPr id="21" name="Shape 18"/>
          <p:cNvSpPr/>
          <p:nvPr/>
        </p:nvSpPr>
        <p:spPr>
          <a:xfrm>
            <a:off x="1810512" y="3922776"/>
            <a:ext cx="256032" cy="256032"/>
          </a:xfrm>
          <a:prstGeom prst="ellipse">
            <a:avLst/>
          </a:prstGeom>
          <a:solidFill>
            <a:srgbClr val="EAF8F5"/>
          </a:solidFill>
          <a:ln w="12700">
            <a:solidFill>
              <a:srgbClr val="EAF8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09928" y="4224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</a:t>
            </a:r>
            <a:endParaRPr lang="zh-CN" sz="800" dirty="0"/>
          </a:p>
        </p:txBody>
      </p:sp>
      <p:sp>
        <p:nvSpPr>
          <p:cNvPr id="23" name="Shape 20"/>
          <p:cNvSpPr/>
          <p:nvPr/>
        </p:nvSpPr>
        <p:spPr>
          <a:xfrm>
            <a:off x="2313432" y="3922776"/>
            <a:ext cx="256032" cy="256032"/>
          </a:xfrm>
          <a:prstGeom prst="ellipse">
            <a:avLst/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12848" y="4224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骑行</a:t>
            </a:r>
            <a:endParaRPr lang="zh-CN" sz="800" dirty="0"/>
          </a:p>
        </p:txBody>
      </p:sp>
      <p:sp>
        <p:nvSpPr>
          <p:cNvPr id="25" name="Shape 22"/>
          <p:cNvSpPr/>
          <p:nvPr/>
        </p:nvSpPr>
        <p:spPr>
          <a:xfrm>
            <a:off x="2816352" y="3922776"/>
            <a:ext cx="256032" cy="256032"/>
          </a:xfrm>
          <a:prstGeom prst="ellipse">
            <a:avLst/>
          </a:prstGeom>
          <a:solidFill>
            <a:srgbClr val="EAF8F5"/>
          </a:solidFill>
          <a:ln w="12700">
            <a:solidFill>
              <a:srgbClr val="EAF8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15768" y="4224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出游</a:t>
            </a:r>
            <a:endParaRPr lang="zh-CN" sz="800" dirty="0"/>
          </a:p>
        </p:txBody>
      </p:sp>
      <p:pic>
        <p:nvPicPr>
          <p:cNvPr id="27" name="Image 1" descr="C:\Users\Administrator\repos\project-1\entry\src\main\resources\base\media\ic_swiper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97864" y="4599432"/>
            <a:ext cx="1005840" cy="621792"/>
          </a:xfrm>
          <a:prstGeom prst="rect">
            <a:avLst/>
          </a:prstGeom>
        </p:spPr>
      </p:pic>
      <p:pic>
        <p:nvPicPr>
          <p:cNvPr id="28" name="Image 2" descr="C:\Users\Administrator\repos\project-1\entry\src\main\resources\base\media\ic_swiper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13432" y="4599432"/>
            <a:ext cx="1005840" cy="62179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234440" y="527608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1B2E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周末阅读</a:t>
            </a:r>
            <a:endParaRPr lang="zh-CN" sz="1000" dirty="0"/>
          </a:p>
        </p:txBody>
      </p:sp>
      <p:sp>
        <p:nvSpPr>
          <p:cNvPr id="30" name="Text 25"/>
          <p:cNvSpPr/>
          <p:nvPr/>
        </p:nvSpPr>
        <p:spPr>
          <a:xfrm>
            <a:off x="2350008" y="527608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1B2E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一起运动</a:t>
            </a:r>
            <a:endParaRPr lang="zh-CN" sz="1000" dirty="0"/>
          </a:p>
        </p:txBody>
      </p:sp>
      <p:sp>
        <p:nvSpPr>
          <p:cNvPr id="31" name="Text 26"/>
          <p:cNvSpPr/>
          <p:nvPr/>
        </p:nvSpPr>
        <p:spPr>
          <a:xfrm>
            <a:off x="1179576" y="567842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   小队    朋友    我的</a:t>
            </a:r>
            <a:endParaRPr lang="zh-CN" sz="900" dirty="0"/>
          </a:p>
        </p:txBody>
      </p:sp>
      <p:sp>
        <p:nvSpPr>
          <p:cNvPr id="32" name="Shape 27"/>
          <p:cNvSpPr/>
          <p:nvPr/>
        </p:nvSpPr>
        <p:spPr>
          <a:xfrm>
            <a:off x="3931920" y="2057400"/>
            <a:ext cx="1627632" cy="310896"/>
          </a:xfrm>
          <a:prstGeom prst="roundRect">
            <a:avLst>
              <a:gd name="adj" fmla="val 35294"/>
            </a:avLst>
          </a:prstGeom>
          <a:solidFill>
            <a:srgbClr val="EAF0FA"/>
          </a:solidFill>
          <a:ln w="7620">
            <a:solidFill>
              <a:srgbClr val="EAF0F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986784" y="206654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界面结构示意</a:t>
            </a:r>
            <a:endParaRPr lang="zh-CN" sz="1100" dirty="0"/>
          </a:p>
        </p:txBody>
      </p:sp>
      <p:sp>
        <p:nvSpPr>
          <p:cNvPr id="34" name="Shape 29"/>
          <p:cNvSpPr/>
          <p:nvPr/>
        </p:nvSpPr>
        <p:spPr>
          <a:xfrm>
            <a:off x="3968496" y="2752344"/>
            <a:ext cx="411480" cy="411480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968496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zh-CN" sz="1300" dirty="0"/>
          </a:p>
        </p:txBody>
      </p:sp>
      <p:sp>
        <p:nvSpPr>
          <p:cNvPr id="36" name="Text 31"/>
          <p:cNvSpPr/>
          <p:nvPr/>
        </p:nvSpPr>
        <p:spPr>
          <a:xfrm>
            <a:off x="4590288" y="274320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搜索定位</a:t>
            </a:r>
            <a:endParaRPr lang="zh-CN" sz="2200" dirty="0"/>
          </a:p>
        </p:txBody>
      </p:sp>
      <p:sp>
        <p:nvSpPr>
          <p:cNvPr id="37" name="Text 32"/>
          <p:cNvSpPr/>
          <p:nvPr/>
        </p:nvSpPr>
        <p:spPr>
          <a:xfrm>
            <a:off x="4590288" y="3182112"/>
            <a:ext cx="661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关键词提交后进入活动列表，调用列表接口。</a:t>
            </a:r>
            <a:endParaRPr lang="zh-CN" sz="1500" dirty="0"/>
          </a:p>
        </p:txBody>
      </p:sp>
      <p:sp>
        <p:nvSpPr>
          <p:cNvPr id="38" name="Shape 33"/>
          <p:cNvSpPr/>
          <p:nvPr/>
        </p:nvSpPr>
        <p:spPr>
          <a:xfrm>
            <a:off x="3968496" y="3712464"/>
            <a:ext cx="411480" cy="411480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68496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zh-CN" sz="1300" dirty="0"/>
          </a:p>
        </p:txBody>
      </p:sp>
      <p:sp>
        <p:nvSpPr>
          <p:cNvPr id="40" name="Text 35"/>
          <p:cNvSpPr/>
          <p:nvPr/>
        </p:nvSpPr>
        <p:spPr>
          <a:xfrm>
            <a:off x="4590288" y="37033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内容触达</a:t>
            </a:r>
            <a:endParaRPr lang="zh-CN" sz="2200" dirty="0"/>
          </a:p>
        </p:txBody>
      </p:sp>
      <p:sp>
        <p:nvSpPr>
          <p:cNvPr id="41" name="Text 36"/>
          <p:cNvSpPr/>
          <p:nvPr/>
        </p:nvSpPr>
        <p:spPr>
          <a:xfrm>
            <a:off x="4590288" y="4142232"/>
            <a:ext cx="661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Swiper 展示轮播内容，双列卡片承载活动。</a:t>
            </a:r>
            <a:endParaRPr lang="zh-CN" sz="1500" dirty="0"/>
          </a:p>
        </p:txBody>
      </p:sp>
      <p:sp>
        <p:nvSpPr>
          <p:cNvPr id="42" name="Shape 37"/>
          <p:cNvSpPr/>
          <p:nvPr/>
        </p:nvSpPr>
        <p:spPr>
          <a:xfrm>
            <a:off x="3968496" y="4672584"/>
            <a:ext cx="411480" cy="411480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968496" y="4672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zh-CN" sz="1300" dirty="0"/>
          </a:p>
        </p:txBody>
      </p:sp>
      <p:sp>
        <p:nvSpPr>
          <p:cNvPr id="44" name="Text 39"/>
          <p:cNvSpPr/>
          <p:nvPr/>
        </p:nvSpPr>
        <p:spPr>
          <a:xfrm>
            <a:off x="4590288" y="466344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详情衔接</a:t>
            </a:r>
            <a:endParaRPr lang="zh-CN" sz="2200" dirty="0"/>
          </a:p>
        </p:txBody>
      </p:sp>
      <p:sp>
        <p:nvSpPr>
          <p:cNvPr id="45" name="Text 40"/>
          <p:cNvSpPr/>
          <p:nvPr/>
        </p:nvSpPr>
        <p:spPr>
          <a:xfrm>
            <a:off x="4590288" y="5102352"/>
            <a:ext cx="661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点击卡片进入详情，继续查看、评论或加入。</a:t>
            </a:r>
            <a:endParaRPr lang="zh-CN" sz="1500" dirty="0"/>
          </a:p>
        </p:txBody>
      </p:sp>
      <p:sp>
        <p:nvSpPr>
          <p:cNvPr id="46" name="Text 41"/>
          <p:cNvSpPr/>
          <p:nvPr/>
        </p:nvSpPr>
        <p:spPr>
          <a:xfrm>
            <a:off x="3977640" y="5806440"/>
            <a:ext cx="7360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根据仓库布局重绘，非运行截图；示例文案与活动仅用于说明。</a:t>
            </a:r>
            <a:endParaRPr lang="zh-CN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核心功能 · 发布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发布活动：把位置与图片带入内容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HarmonyOS 原生能力，降低活动信息的填写成本。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67128"/>
            <a:ext cx="3840480" cy="385876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505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发布活动</a:t>
            </a:r>
            <a:endParaRPr lang="zh-CN" sz="2200" dirty="0"/>
          </a:p>
        </p:txBody>
      </p:sp>
      <p:sp>
        <p:nvSpPr>
          <p:cNvPr id="11" name="Shape 9"/>
          <p:cNvSpPr/>
          <p:nvPr/>
        </p:nvSpPr>
        <p:spPr>
          <a:xfrm>
            <a:off x="3383280" y="2450592"/>
            <a:ext cx="749808" cy="310896"/>
          </a:xfrm>
          <a:prstGeom prst="roundRect">
            <a:avLst>
              <a:gd name="adj" fmla="val 35294"/>
            </a:avLst>
          </a:prstGeom>
          <a:solidFill>
            <a:srgbClr val="FFF0F2"/>
          </a:solidFill>
          <a:ln w="7620">
            <a:solidFill>
              <a:srgbClr val="FFF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8144" y="2459736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zh-CN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540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活动标题</a:t>
            </a:r>
            <a:endParaRPr lang="zh-CN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557016"/>
            <a:ext cx="3264408" cy="0"/>
          </a:xfrm>
          <a:prstGeom prst="line">
            <a:avLst/>
          </a:prstGeom>
          <a:noFill/>
          <a:ln w="17780">
            <a:solidFill>
              <a:srgbClr val="DB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673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描述活动内容、参与方式……</a:t>
            </a:r>
            <a:endParaRPr lang="zh-CN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626864"/>
            <a:ext cx="3264408" cy="0"/>
          </a:xfrm>
          <a:prstGeom prst="line">
            <a:avLst/>
          </a:prstGeom>
          <a:noFill/>
          <a:ln w="17780">
            <a:solidFill>
              <a:srgbClr val="DB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1216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活动地点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2130552" y="485546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2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自动获取 / 手动填写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5422392"/>
            <a:ext cx="548640" cy="420624"/>
          </a:xfrm>
          <a:prstGeom prst="roundRect">
            <a:avLst>
              <a:gd name="adj" fmla="val 26087"/>
            </a:avLst>
          </a:prstGeom>
          <a:solidFill>
            <a:srgbClr val="FFF0F2"/>
          </a:solidFill>
          <a:ln w="7620">
            <a:solidFill>
              <a:srgbClr val="FFF0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315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300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zh-CN" sz="2300" dirty="0"/>
          </a:p>
        </p:txBody>
      </p:sp>
      <p:sp>
        <p:nvSpPr>
          <p:cNvPr id="21" name="Text 19"/>
          <p:cNvSpPr/>
          <p:nvPr/>
        </p:nvSpPr>
        <p:spPr>
          <a:xfrm>
            <a:off x="1691640" y="548640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添加活动封面</a:t>
            </a:r>
            <a:endParaRPr lang="zh-CN" sz="1300" dirty="0"/>
          </a:p>
        </p:txBody>
      </p:sp>
      <p:sp>
        <p:nvSpPr>
          <p:cNvPr id="22" name="Shape 20"/>
          <p:cNvSpPr/>
          <p:nvPr/>
        </p:nvSpPr>
        <p:spPr>
          <a:xfrm>
            <a:off x="5010912" y="2350008"/>
            <a:ext cx="411480" cy="411480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zh-CN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2340864"/>
            <a:ext cx="5486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内容校验</a:t>
            </a:r>
            <a:endParaRPr lang="zh-CN" sz="2000" dirty="0"/>
          </a:p>
        </p:txBody>
      </p:sp>
      <p:sp>
        <p:nvSpPr>
          <p:cNvPr id="25" name="Text 23"/>
          <p:cNvSpPr/>
          <p:nvPr/>
        </p:nvSpPr>
        <p:spPr>
          <a:xfrm>
            <a:off x="5623560" y="2770632"/>
            <a:ext cx="5577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标题、介绍、地点、封面完整后再提交</a:t>
            </a:r>
            <a:endParaRPr lang="zh-CN" sz="1400" dirty="0"/>
          </a:p>
        </p:txBody>
      </p:sp>
      <p:sp>
        <p:nvSpPr>
          <p:cNvPr id="26" name="Shape 24"/>
          <p:cNvSpPr/>
          <p:nvPr/>
        </p:nvSpPr>
        <p:spPr>
          <a:xfrm>
            <a:off x="5010912" y="3255264"/>
            <a:ext cx="411480" cy="411480"/>
          </a:xfrm>
          <a:prstGeom prst="ellipse">
            <a:avLst/>
          </a:prstGeom>
          <a:solidFill>
            <a:srgbClr val="069D95"/>
          </a:solidFill>
          <a:ln w="12700">
            <a:solidFill>
              <a:srgbClr val="069D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zh-CN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3246120"/>
            <a:ext cx="5486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定位填充</a:t>
            </a:r>
            <a:endParaRPr lang="zh-CN" sz="2000" dirty="0"/>
          </a:p>
        </p:txBody>
      </p:sp>
      <p:sp>
        <p:nvSpPr>
          <p:cNvPr id="29" name="Text 27"/>
          <p:cNvSpPr/>
          <p:nvPr/>
        </p:nvSpPr>
        <p:spPr>
          <a:xfrm>
            <a:off x="5623560" y="3675888"/>
            <a:ext cx="5577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动态申请权限 → 经纬度 → 逆地理编码</a:t>
            </a:r>
            <a:endParaRPr lang="zh-CN" sz="1400" dirty="0"/>
          </a:p>
        </p:txBody>
      </p:sp>
      <p:sp>
        <p:nvSpPr>
          <p:cNvPr id="30" name="Shape 28"/>
          <p:cNvSpPr/>
          <p:nvPr/>
        </p:nvSpPr>
        <p:spPr>
          <a:xfrm>
            <a:off x="5010912" y="4160520"/>
            <a:ext cx="411480" cy="411480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zh-CN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4151376"/>
            <a:ext cx="5486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图片上传</a:t>
            </a:r>
            <a:endParaRPr lang="zh-CN" sz="2000" dirty="0"/>
          </a:p>
        </p:txBody>
      </p:sp>
      <p:sp>
        <p:nvSpPr>
          <p:cNvPr id="33" name="Text 31"/>
          <p:cNvSpPr/>
          <p:nvPr/>
        </p:nvSpPr>
        <p:spPr>
          <a:xfrm>
            <a:off x="5623560" y="4581144"/>
            <a:ext cx="5577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系统图片选择器 → 缓存文件 → 上传接口</a:t>
            </a:r>
            <a:endParaRPr lang="zh-CN" sz="1400" dirty="0"/>
          </a:p>
        </p:txBody>
      </p:sp>
      <p:sp>
        <p:nvSpPr>
          <p:cNvPr id="34" name="Shape 32"/>
          <p:cNvSpPr/>
          <p:nvPr/>
        </p:nvSpPr>
        <p:spPr>
          <a:xfrm>
            <a:off x="5010912" y="5065776"/>
            <a:ext cx="411480" cy="411480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5065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zh-CN" sz="1300" dirty="0"/>
          </a:p>
        </p:txBody>
      </p:sp>
      <p:sp>
        <p:nvSpPr>
          <p:cNvPr id="36" name="Text 34"/>
          <p:cNvSpPr/>
          <p:nvPr/>
        </p:nvSpPr>
        <p:spPr>
          <a:xfrm>
            <a:off x="5623560" y="5056632"/>
            <a:ext cx="5486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状态控制</a:t>
            </a:r>
            <a:endParaRPr lang="zh-CN" sz="2000" dirty="0"/>
          </a:p>
        </p:txBody>
      </p:sp>
      <p:sp>
        <p:nvSpPr>
          <p:cNvPr id="37" name="Text 35"/>
          <p:cNvSpPr/>
          <p:nvPr/>
        </p:nvSpPr>
        <p:spPr>
          <a:xfrm>
            <a:off x="5623560" y="5486400"/>
            <a:ext cx="5577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上传中或发布中禁用提交，避免重复操作</a:t>
            </a:r>
            <a:endParaRPr lang="zh-CN" sz="1400" dirty="0"/>
          </a:p>
        </p:txBody>
      </p:sp>
      <p:sp>
        <p:nvSpPr>
          <p:cNvPr id="38" name="Text 36"/>
          <p:cNvSpPr/>
          <p:nvPr/>
        </p:nvSpPr>
        <p:spPr>
          <a:xfrm>
            <a:off x="832104" y="6089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表单结构示意，非运行截图</a:t>
            </a:r>
            <a:endParaRPr lang="zh-CN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核心功能 · 参与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加入与退出：让操作结果与页面状态一致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围绕服务端返回结果更新状态，减少“点了，但不知道是否成功”的困惑。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3446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340864"/>
            <a:ext cx="3017520" cy="1856232"/>
          </a:xfrm>
          <a:prstGeom prst="roundRect">
            <a:avLst>
              <a:gd name="adj" fmla="val 5911"/>
            </a:avLst>
          </a:prstGeom>
          <a:solidFill>
            <a:srgbClr val="253952"/>
          </a:solidFill>
          <a:ln w="7620">
            <a:solidFill>
              <a:srgbClr val="2539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51176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0</a:t>
            </a:r>
            <a:endParaRPr lang="zh-CN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0266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未加入</a:t>
            </a:r>
            <a:endParaRPr lang="zh-CN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363931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显示加入入口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2340864"/>
            <a:ext cx="3017520" cy="1856232"/>
          </a:xfrm>
          <a:prstGeom prst="roundRect">
            <a:avLst>
              <a:gd name="adj" fmla="val 5911"/>
            </a:avLst>
          </a:prstGeom>
          <a:solidFill>
            <a:srgbClr val="069D95"/>
          </a:solidFill>
          <a:ln w="7620">
            <a:solidFill>
              <a:srgbClr val="069D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551176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1</a:t>
            </a:r>
            <a:endParaRPr lang="zh-CN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0266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已加入</a:t>
            </a:r>
            <a:endParaRPr lang="zh-CN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363931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允许退出活动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8458200" y="2340864"/>
            <a:ext cx="3017520" cy="1856232"/>
          </a:xfrm>
          <a:prstGeom prst="roundRect">
            <a:avLst>
              <a:gd name="adj" fmla="val 5911"/>
            </a:avLst>
          </a:prstGeom>
          <a:solidFill>
            <a:srgbClr val="253952"/>
          </a:solidFill>
          <a:ln w="7620">
            <a:solidFill>
              <a:srgbClr val="253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551176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2</a:t>
            </a:r>
            <a:endParaRPr lang="zh-CN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30266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发起者状态</a:t>
            </a:r>
            <a:endParaRPr lang="zh-CN" sz="2600" dirty="0"/>
          </a:p>
        </p:txBody>
      </p:sp>
      <p:sp>
        <p:nvSpPr>
          <p:cNvPr id="20" name="Text 18"/>
          <p:cNvSpPr/>
          <p:nvPr/>
        </p:nvSpPr>
        <p:spPr>
          <a:xfrm>
            <a:off x="8686800" y="363931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不执行加入切换</a:t>
            </a:r>
            <a:endParaRPr lang="zh-CN" sz="1500" dirty="0"/>
          </a:p>
        </p:txBody>
      </p:sp>
      <p:sp>
        <p:nvSpPr>
          <p:cNvPr id="21" name="Shape 19"/>
          <p:cNvSpPr/>
          <p:nvPr/>
        </p:nvSpPr>
        <p:spPr>
          <a:xfrm>
            <a:off x="3749040" y="3063240"/>
            <a:ext cx="713232" cy="0"/>
          </a:xfrm>
          <a:prstGeom prst="line">
            <a:avLst/>
          </a:prstGeom>
          <a:noFill/>
          <a:ln w="25400">
            <a:solidFill>
              <a:srgbClr val="FF526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3749040" y="3511296"/>
            <a:ext cx="713232" cy="0"/>
          </a:xfrm>
          <a:prstGeom prst="line">
            <a:avLst/>
          </a:prstGeom>
          <a:noFill/>
          <a:ln w="25400">
            <a:solidFill>
              <a:srgbClr val="A6B4C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794760" y="2724912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</a:t>
            </a:r>
            <a:endParaRPr lang="zh-CN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3694176"/>
            <a:ext cx="612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00" b="1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</a:t>
            </a:r>
            <a:endParaRPr lang="zh-CN" sz="1000" dirty="0"/>
          </a:p>
        </p:txBody>
      </p:sp>
      <p:sp>
        <p:nvSpPr>
          <p:cNvPr id="25" name="Shape 23"/>
          <p:cNvSpPr/>
          <p:nvPr/>
        </p:nvSpPr>
        <p:spPr>
          <a:xfrm>
            <a:off x="694944" y="4672584"/>
            <a:ext cx="10762488" cy="1280160"/>
          </a:xfrm>
          <a:prstGeom prst="roundRect">
            <a:avLst>
              <a:gd name="adj" fmla="val 8571"/>
            </a:avLst>
          </a:prstGeom>
          <a:solidFill>
            <a:srgbClr val="20344F"/>
          </a:solidFill>
          <a:ln w="7620">
            <a:solidFill>
              <a:srgbClr val="2034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491032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一次操作的完整处理</a:t>
            </a:r>
            <a:endParaRPr lang="zh-CN" sz="1900" dirty="0"/>
          </a:p>
        </p:txBody>
      </p:sp>
      <p:sp>
        <p:nvSpPr>
          <p:cNvPr id="27" name="Text 25"/>
          <p:cNvSpPr/>
          <p:nvPr/>
        </p:nvSpPr>
        <p:spPr>
          <a:xfrm>
            <a:off x="941832" y="5431536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检查登录 → 防重复点击 → 发送请求 → 成功后更新状态</a:t>
            </a:r>
            <a:endParaRPr lang="zh-CN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核心功能 · 管理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两种管理视角，覆盖参与者与发起者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“我的小队”关注同行的人，“我的活动”关注自己发布的内容。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12848"/>
            <a:ext cx="5257800" cy="3630168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450592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EAF8F5"/>
          </a:solidFill>
          <a:ln w="7620">
            <a:solidFill>
              <a:srgbClr val="EAF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5973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参与者视角</a:t>
            </a:r>
            <a:endParaRPr lang="zh-CN" sz="1100" dirty="0"/>
          </a:p>
        </p:txBody>
      </p:sp>
      <p:sp>
        <p:nvSpPr>
          <p:cNvPr id="12" name="Text 10"/>
          <p:cNvSpPr/>
          <p:nvPr/>
        </p:nvSpPr>
        <p:spPr>
          <a:xfrm>
            <a:off x="905256" y="30083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我的小队</a:t>
            </a:r>
            <a:endParaRPr lang="zh-CN" sz="2800" dirty="0"/>
          </a:p>
        </p:txBody>
      </p:sp>
      <p:sp>
        <p:nvSpPr>
          <p:cNvPr id="13" name="Shape 11"/>
          <p:cNvSpPr/>
          <p:nvPr/>
        </p:nvSpPr>
        <p:spPr>
          <a:xfrm>
            <a:off x="932688" y="3776472"/>
            <a:ext cx="64008" cy="64008"/>
          </a:xfrm>
          <a:prstGeom prst="ellipse">
            <a:avLst/>
          </a:prstGeom>
          <a:solidFill>
            <a:srgbClr val="069D95"/>
          </a:solidFill>
          <a:ln w="12700">
            <a:solidFill>
              <a:srgbClr val="069D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36667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查看小队及成员数量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932688" y="4215384"/>
            <a:ext cx="64008" cy="64008"/>
          </a:xfrm>
          <a:prstGeom prst="ellipse">
            <a:avLst/>
          </a:prstGeom>
          <a:solidFill>
            <a:srgbClr val="069D95"/>
          </a:solidFill>
          <a:ln w="12700">
            <a:solidFill>
              <a:srgbClr val="069D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41056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按昵称筛选成员</a:t>
            </a:r>
            <a:endParaRPr lang="zh-CN" sz="1700" dirty="0"/>
          </a:p>
        </p:txBody>
      </p:sp>
      <p:sp>
        <p:nvSpPr>
          <p:cNvPr id="17" name="Shape 15"/>
          <p:cNvSpPr/>
          <p:nvPr/>
        </p:nvSpPr>
        <p:spPr>
          <a:xfrm>
            <a:off x="932688" y="4654296"/>
            <a:ext cx="64008" cy="64008"/>
          </a:xfrm>
          <a:prstGeom prst="ellipse">
            <a:avLst/>
          </a:prstGeom>
          <a:solidFill>
            <a:srgbClr val="069D95"/>
          </a:solidFill>
          <a:ln w="12700">
            <a:solidFill>
              <a:srgbClr val="069D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45445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查看成员资料弹层</a:t>
            </a:r>
            <a:endParaRPr lang="zh-CN" sz="1700" dirty="0"/>
          </a:p>
        </p:txBody>
      </p:sp>
      <p:sp>
        <p:nvSpPr>
          <p:cNvPr id="19" name="Shape 17"/>
          <p:cNvSpPr/>
          <p:nvPr/>
        </p:nvSpPr>
        <p:spPr>
          <a:xfrm>
            <a:off x="914400" y="5175504"/>
            <a:ext cx="4690872" cy="0"/>
          </a:xfrm>
          <a:prstGeom prst="line">
            <a:avLst/>
          </a:prstGeom>
          <a:noFill/>
          <a:ln w="17780">
            <a:solidFill>
              <a:srgbClr val="DB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3858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小队卡片 → 成员列表 → 成员资料</a:t>
            </a:r>
            <a:endParaRPr lang="zh-CN" sz="1300" dirty="0"/>
          </a:p>
        </p:txBody>
      </p:sp>
      <p:sp>
        <p:nvSpPr>
          <p:cNvPr id="21" name="Shape 19"/>
          <p:cNvSpPr/>
          <p:nvPr/>
        </p:nvSpPr>
        <p:spPr>
          <a:xfrm>
            <a:off x="6281928" y="2212848"/>
            <a:ext cx="5257800" cy="3630168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2450592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0F2"/>
          </a:solidFill>
          <a:ln w="7620">
            <a:solidFill>
              <a:srgbClr val="FFF0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245973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发起者视角</a:t>
            </a:r>
            <a:endParaRPr lang="zh-CN" sz="1100" dirty="0"/>
          </a:p>
        </p:txBody>
      </p:sp>
      <p:sp>
        <p:nvSpPr>
          <p:cNvPr id="24" name="Text 22"/>
          <p:cNvSpPr/>
          <p:nvPr/>
        </p:nvSpPr>
        <p:spPr>
          <a:xfrm>
            <a:off x="6547104" y="30083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我的活动</a:t>
            </a:r>
            <a:endParaRPr lang="zh-CN" sz="2800" dirty="0"/>
          </a:p>
        </p:txBody>
      </p:sp>
      <p:sp>
        <p:nvSpPr>
          <p:cNvPr id="25" name="Shape 23"/>
          <p:cNvSpPr/>
          <p:nvPr/>
        </p:nvSpPr>
        <p:spPr>
          <a:xfrm>
            <a:off x="6574536" y="3776472"/>
            <a:ext cx="64008" cy="64008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75704" y="36667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查看本人发布的活动</a:t>
            </a:r>
            <a:endParaRPr lang="zh-CN" sz="1700" dirty="0"/>
          </a:p>
        </p:txBody>
      </p:sp>
      <p:sp>
        <p:nvSpPr>
          <p:cNvPr id="27" name="Shape 25"/>
          <p:cNvSpPr/>
          <p:nvPr/>
        </p:nvSpPr>
        <p:spPr>
          <a:xfrm>
            <a:off x="6574536" y="4215384"/>
            <a:ext cx="64008" cy="64008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75704" y="41056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复用发布页编辑内容</a:t>
            </a:r>
            <a:endParaRPr lang="zh-CN" sz="1700" dirty="0"/>
          </a:p>
        </p:txBody>
      </p:sp>
      <p:sp>
        <p:nvSpPr>
          <p:cNvPr id="29" name="Shape 27"/>
          <p:cNvSpPr/>
          <p:nvPr/>
        </p:nvSpPr>
        <p:spPr>
          <a:xfrm>
            <a:off x="6574536" y="4654296"/>
            <a:ext cx="64008" cy="64008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45445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删除前确认，成功后移除</a:t>
            </a:r>
            <a:endParaRPr lang="zh-CN" sz="1700" dirty="0"/>
          </a:p>
        </p:txBody>
      </p:sp>
      <p:sp>
        <p:nvSpPr>
          <p:cNvPr id="31" name="Shape 29"/>
          <p:cNvSpPr/>
          <p:nvPr/>
        </p:nvSpPr>
        <p:spPr>
          <a:xfrm>
            <a:off x="6556248" y="5175504"/>
            <a:ext cx="4690872" cy="0"/>
          </a:xfrm>
          <a:prstGeom prst="line">
            <a:avLst/>
          </a:prstGeom>
          <a:noFill/>
          <a:ln w="17780">
            <a:solidFill>
              <a:srgbClr val="DB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53858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 → 我的活动 → 编辑 / 删除</a:t>
            </a:r>
            <a:endParaRPr lang="zh-CN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技术亮点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把易出错的细节，集中到可复用的处理方式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重点不只在页面数量，更在状态管理、接口组织与异常反馈。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39696"/>
            <a:ext cx="5257800" cy="1746504"/>
          </a:xfrm>
          <a:prstGeom prst="roundRect">
            <a:avLst>
              <a:gd name="adj" fmla="val 628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2414016"/>
            <a:ext cx="54864" cy="338328"/>
          </a:xfrm>
          <a:prstGeom prst="rect">
            <a:avLst>
              <a:gd name="adj" fmla="val 20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331720"/>
            <a:ext cx="44988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统一网络入口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4672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集中处理超时、响应解析与失败提示</a:t>
            </a:r>
            <a:endParaRPr lang="zh-CN" sz="1500" dirty="0"/>
          </a:p>
          <a:p>
            <a:pPr indent="0" marL="0"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请求结束后释放 HTTP 资源</a:t>
            </a:r>
            <a:endParaRPr lang="zh-CN" sz="1500" dirty="0"/>
          </a:p>
        </p:txBody>
      </p:sp>
      <p:sp>
        <p:nvSpPr>
          <p:cNvPr id="13" name="Text 11"/>
          <p:cNvSpPr/>
          <p:nvPr/>
        </p:nvSpPr>
        <p:spPr>
          <a:xfrm>
            <a:off x="4014216" y="24231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HttpRequest</a:t>
            </a:r>
            <a:endParaRPr lang="zh-CN" sz="900" dirty="0"/>
          </a:p>
        </p:txBody>
      </p:sp>
      <p:sp>
        <p:nvSpPr>
          <p:cNvPr id="14" name="Shape 12"/>
          <p:cNvSpPr/>
          <p:nvPr/>
        </p:nvSpPr>
        <p:spPr>
          <a:xfrm>
            <a:off x="6281928" y="2139696"/>
            <a:ext cx="5257800" cy="1746504"/>
          </a:xfrm>
          <a:prstGeom prst="roundRect">
            <a:avLst>
              <a:gd name="adj" fmla="val 628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28816" y="2414016"/>
            <a:ext cx="54864" cy="338328"/>
          </a:xfrm>
          <a:prstGeom prst="rect">
            <a:avLst>
              <a:gd name="adj" fmla="val 200000"/>
            </a:avLst>
          </a:prstGeom>
          <a:solidFill>
            <a:srgbClr val="069D95"/>
          </a:solidFill>
          <a:ln w="7620">
            <a:solidFill>
              <a:srgbClr val="069D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57416" y="2331720"/>
            <a:ext cx="44988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共享登录状态</a:t>
            </a:r>
            <a:endParaRPr lang="zh-CN" sz="2100" dirty="0"/>
          </a:p>
        </p:txBody>
      </p:sp>
      <p:sp>
        <p:nvSpPr>
          <p:cNvPr id="17" name="Text 15"/>
          <p:cNvSpPr/>
          <p:nvPr/>
        </p:nvSpPr>
        <p:spPr>
          <a:xfrm>
            <a:off x="6556248" y="2926080"/>
            <a:ext cx="4672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AppStorage 驱动登录显示</a:t>
            </a:r>
            <a:endParaRPr lang="zh-CN" sz="1500" dirty="0"/>
          </a:p>
          <a:p>
            <a:pPr indent="0" marL="0"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loginUserAction 复用操作前检查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9656064" y="24231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AppStorage</a:t>
            </a:r>
            <a:endParaRPr lang="zh-CN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169664"/>
            <a:ext cx="5257800" cy="1746504"/>
          </a:xfrm>
          <a:prstGeom prst="roundRect">
            <a:avLst>
              <a:gd name="adj" fmla="val 628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" y="4443984"/>
            <a:ext cx="54864" cy="338328"/>
          </a:xfrm>
          <a:prstGeom prst="rect">
            <a:avLst>
              <a:gd name="adj" fmla="val 200000"/>
            </a:avLst>
          </a:prstGeom>
          <a:solidFill>
            <a:srgbClr val="069D95"/>
          </a:solidFill>
          <a:ln w="7620">
            <a:solidFill>
              <a:srgbClr val="069D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361688"/>
            <a:ext cx="44988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异步操作防重</a:t>
            </a:r>
            <a:endParaRPr lang="zh-CN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4956048"/>
            <a:ext cx="4672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loading / joining / publishing 标记</a:t>
            </a:r>
            <a:endParaRPr lang="zh-CN" sz="1500" dirty="0"/>
          </a:p>
          <a:p>
            <a:pPr indent="0" marL="0"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防止连续点击发出重复请求</a:t>
            </a:r>
            <a:endParaRPr lang="zh-CN" sz="1500" dirty="0"/>
          </a:p>
        </p:txBody>
      </p:sp>
      <p:sp>
        <p:nvSpPr>
          <p:cNvPr id="23" name="Text 21"/>
          <p:cNvSpPr/>
          <p:nvPr/>
        </p:nvSpPr>
        <p:spPr>
          <a:xfrm>
            <a:off x="4014216" y="44531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@State</a:t>
            </a:r>
            <a:endParaRPr lang="zh-CN" sz="900" dirty="0"/>
          </a:p>
        </p:txBody>
      </p:sp>
      <p:sp>
        <p:nvSpPr>
          <p:cNvPr id="24" name="Shape 22"/>
          <p:cNvSpPr/>
          <p:nvPr/>
        </p:nvSpPr>
        <p:spPr>
          <a:xfrm>
            <a:off x="6281928" y="4169664"/>
            <a:ext cx="5257800" cy="1746504"/>
          </a:xfrm>
          <a:prstGeom prst="roundRect">
            <a:avLst>
              <a:gd name="adj" fmla="val 628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28816" y="4443984"/>
            <a:ext cx="54864" cy="338328"/>
          </a:xfrm>
          <a:prstGeom prst="rect">
            <a:avLst>
              <a:gd name="adj" fmla="val 20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57416" y="4361688"/>
            <a:ext cx="44988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页面返回刷新</a:t>
            </a:r>
            <a:endParaRPr lang="zh-CN" sz="2100" dirty="0"/>
          </a:p>
        </p:txBody>
      </p:sp>
      <p:sp>
        <p:nvSpPr>
          <p:cNvPr id="27" name="Text 25"/>
          <p:cNvSpPr/>
          <p:nvPr/>
        </p:nvSpPr>
        <p:spPr>
          <a:xfrm>
            <a:off x="6556248" y="4956048"/>
            <a:ext cx="4672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页面显示与 Tab 可见时重新读取</a:t>
            </a:r>
            <a:endParaRPr lang="zh-CN" sz="1500" dirty="0"/>
          </a:p>
          <a:p>
            <a:pPr indent="0" marL="0"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让列表跟随编辑和参与操作变化</a:t>
            </a:r>
            <a:endParaRPr lang="zh-CN" sz="1500" dirty="0"/>
          </a:p>
        </p:txBody>
      </p:sp>
      <p:sp>
        <p:nvSpPr>
          <p:cNvPr id="28" name="Text 26"/>
          <p:cNvSpPr/>
          <p:nvPr/>
        </p:nvSpPr>
        <p:spPr>
          <a:xfrm>
            <a:off x="9656064" y="44531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Lifecycle</a:t>
            </a:r>
            <a:endParaRPr lang="zh-CN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验证设计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先跑通业务主线，再覆盖异常场景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以下为建议验收清单；本次材料制作未执行真机测试或后端联调。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10908792" cy="512064"/>
          </a:xfrm>
          <a:prstGeom prst="roundRect">
            <a:avLst>
              <a:gd name="adj" fmla="val 21429"/>
            </a:avLst>
          </a:prstGeom>
          <a:solidFill>
            <a:srgbClr val="12243E"/>
          </a:solidFill>
          <a:ln w="7620">
            <a:solidFill>
              <a:srgbClr val="122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2768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验证维度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2761488" y="22768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关键场景</a:t>
            </a:r>
            <a:endParaRPr lang="zh-CN" sz="1400" dirty="0"/>
          </a:p>
        </p:txBody>
      </p:sp>
      <p:sp>
        <p:nvSpPr>
          <p:cNvPr id="12" name="Text 10"/>
          <p:cNvSpPr/>
          <p:nvPr/>
        </p:nvSpPr>
        <p:spPr>
          <a:xfrm>
            <a:off x="7562088" y="22768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预期结果</a:t>
            </a:r>
            <a:endParaRPr lang="zh-CN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724912"/>
            <a:ext cx="10908792" cy="557784"/>
          </a:xfrm>
          <a:prstGeom prst="rect">
            <a:avLst>
              <a:gd name="adj" fmla="val 1967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业务主线</a:t>
            </a:r>
            <a:endParaRPr lang="zh-CN" sz="1400" dirty="0"/>
          </a:p>
        </p:txBody>
      </p:sp>
      <p:sp>
        <p:nvSpPr>
          <p:cNvPr id="15" name="Text 13"/>
          <p:cNvSpPr/>
          <p:nvPr/>
        </p:nvSpPr>
        <p:spPr>
          <a:xfrm>
            <a:off x="2761488" y="2852928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→ 发布 → 搜索 → 加入 → 查看小队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7562088" y="28529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信息可查、参与状态一致</a:t>
            </a:r>
            <a:endParaRPr lang="zh-CN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328416"/>
            <a:ext cx="10908792" cy="557784"/>
          </a:xfrm>
          <a:prstGeom prst="rect">
            <a:avLst>
              <a:gd name="adj" fmla="val 19672"/>
            </a:avLst>
          </a:prstGeom>
          <a:solidFill>
            <a:srgbClr val="EAF0F6"/>
          </a:solidFill>
          <a:ln w="7620">
            <a:solidFill>
              <a:srgbClr val="EAF0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输入与防重</a:t>
            </a:r>
            <a:endParaRPr lang="zh-CN" sz="1400" dirty="0"/>
          </a:p>
        </p:txBody>
      </p:sp>
      <p:sp>
        <p:nvSpPr>
          <p:cNvPr id="19" name="Text 17"/>
          <p:cNvSpPr/>
          <p:nvPr/>
        </p:nvSpPr>
        <p:spPr>
          <a:xfrm>
            <a:off x="2761488" y="3456432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必填项为空 / 评论空白 / 连续点击提交</a:t>
            </a:r>
            <a:endParaRPr lang="zh-CN" sz="1300" dirty="0"/>
          </a:p>
        </p:txBody>
      </p:sp>
      <p:sp>
        <p:nvSpPr>
          <p:cNvPr id="20" name="Text 18"/>
          <p:cNvSpPr/>
          <p:nvPr/>
        </p:nvSpPr>
        <p:spPr>
          <a:xfrm>
            <a:off x="7562088" y="34564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拦截无效输入，避免重复提交</a:t>
            </a:r>
            <a:endParaRPr lang="zh-CN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10908792" cy="557784"/>
          </a:xfrm>
          <a:prstGeom prst="rect">
            <a:avLst>
              <a:gd name="adj" fmla="val 1967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网络与权限</a:t>
            </a:r>
            <a:endParaRPr lang="zh-CN" sz="1400" dirty="0"/>
          </a:p>
        </p:txBody>
      </p:sp>
      <p:sp>
        <p:nvSpPr>
          <p:cNvPr id="23" name="Text 21"/>
          <p:cNvSpPr/>
          <p:nvPr/>
        </p:nvSpPr>
        <p:spPr>
          <a:xfrm>
            <a:off x="2761488" y="405993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请求失败 / 定位拒绝 / 图片上传失败</a:t>
            </a:r>
            <a:endParaRPr lang="zh-CN" sz="1300" dirty="0"/>
          </a:p>
        </p:txBody>
      </p:sp>
      <p:sp>
        <p:nvSpPr>
          <p:cNvPr id="24" name="Text 22"/>
          <p:cNvSpPr/>
          <p:nvPr/>
        </p:nvSpPr>
        <p:spPr>
          <a:xfrm>
            <a:off x="7562088" y="40599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反馈明确，提供重试或手动补充</a:t>
            </a:r>
            <a:endParaRPr lang="zh-CN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535424"/>
            <a:ext cx="10908792" cy="557784"/>
          </a:xfrm>
          <a:prstGeom prst="rect">
            <a:avLst>
              <a:gd name="adj" fmla="val 19672"/>
            </a:avLst>
          </a:prstGeom>
          <a:solidFill>
            <a:srgbClr val="EAF0F6"/>
          </a:solidFill>
          <a:ln w="7620">
            <a:solidFill>
              <a:srgbClr val="EAF0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管理与刷新</a:t>
            </a:r>
            <a:endParaRPr lang="zh-CN" sz="1400" dirty="0"/>
          </a:p>
        </p:txBody>
      </p:sp>
      <p:sp>
        <p:nvSpPr>
          <p:cNvPr id="27" name="Text 25"/>
          <p:cNvSpPr/>
          <p:nvPr/>
        </p:nvSpPr>
        <p:spPr>
          <a:xfrm>
            <a:off x="2761488" y="4663440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编辑返回 / 删除取消 / 成功删除</a:t>
            </a:r>
            <a:endParaRPr lang="zh-CN" sz="1300" dirty="0"/>
          </a:p>
        </p:txBody>
      </p:sp>
      <p:sp>
        <p:nvSpPr>
          <p:cNvPr id="28" name="Text 26"/>
          <p:cNvSpPr/>
          <p:nvPr/>
        </p:nvSpPr>
        <p:spPr>
          <a:xfrm>
            <a:off x="7562088" y="4663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内容更新，删除状态符合预期</a:t>
            </a:r>
            <a:endParaRPr lang="zh-CN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513832"/>
            <a:ext cx="10908792" cy="603504"/>
          </a:xfrm>
          <a:prstGeom prst="roundRect">
            <a:avLst>
              <a:gd name="adj" fmla="val 18182"/>
            </a:avLst>
          </a:prstGeom>
          <a:solidFill>
            <a:srgbClr val="FFF0F2"/>
          </a:solidFill>
          <a:ln w="7620">
            <a:solidFill>
              <a:srgbClr val="FFF0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6692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E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当前测试基础：已配置 Hypium / Hamock，现有用例仍以模板断言为主。</a:t>
            </a:r>
            <a:endParaRPr lang="zh-CN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当前成果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已形成活动主线，扩展能力仍需补齐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明确当前代码支持的范围，也明确下一步需要完成的内容。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57984"/>
            <a:ext cx="5276088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432304"/>
            <a:ext cx="1984248" cy="310896"/>
          </a:xfrm>
          <a:prstGeom prst="roundRect">
            <a:avLst>
              <a:gd name="adj" fmla="val 35294"/>
            </a:avLst>
          </a:prstGeom>
          <a:solidFill>
            <a:srgbClr val="EAF8F5"/>
          </a:solidFill>
          <a:ln w="7620">
            <a:solidFill>
              <a:srgbClr val="EAF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44144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当前代码已具备</a:t>
            </a:r>
            <a:endParaRPr lang="zh-CN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099816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→ 参与 → 管理</a:t>
            </a:r>
            <a:endParaRPr lang="zh-CN" sz="2600" dirty="0"/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46634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18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账户、活动、成员、评论相关页面</a:t>
            </a:r>
            <a:endParaRPr lang="zh-CN" sz="1800" dirty="0"/>
          </a:p>
          <a:p>
            <a:pPr indent="0" marL="0">
              <a:lnSpc>
                <a:spcPct val="135000"/>
              </a:lnSpc>
              <a:buNone/>
            </a:pPr>
            <a:r>
              <a:rPr lang="zh-CN" altLang="en-US" sz="18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定位与图片上传调用逻辑</a:t>
            </a:r>
            <a:endParaRPr lang="zh-CN" sz="1800" dirty="0"/>
          </a:p>
          <a:p>
            <a:pPr indent="0" marL="0">
              <a:lnSpc>
                <a:spcPct val="135000"/>
              </a:lnSpc>
              <a:buNone/>
            </a:pPr>
            <a:r>
              <a:rPr lang="zh-CN" altLang="en-US" sz="18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统一接口封装与页面状态控制</a:t>
            </a:r>
            <a:endParaRPr lang="zh-CN" sz="1800" dirty="0"/>
          </a:p>
        </p:txBody>
      </p:sp>
      <p:sp>
        <p:nvSpPr>
          <p:cNvPr id="14" name="Shape 12"/>
          <p:cNvSpPr/>
          <p:nvPr/>
        </p:nvSpPr>
        <p:spPr>
          <a:xfrm>
            <a:off x="6291072" y="2157984"/>
            <a:ext cx="5276088" cy="3886200"/>
          </a:xfrm>
          <a:prstGeom prst="roundRect">
            <a:avLst>
              <a:gd name="adj" fmla="val 2824"/>
            </a:avLst>
          </a:prstGeom>
          <a:solidFill>
            <a:srgbClr val="12243E"/>
          </a:solidFill>
          <a:ln w="7620">
            <a:solidFill>
              <a:srgbClr val="1224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5392" y="2432304"/>
            <a:ext cx="1984248" cy="310896"/>
          </a:xfrm>
          <a:prstGeom prst="roundRect">
            <a:avLst>
              <a:gd name="adj" fmla="val 35294"/>
            </a:avLst>
          </a:prstGeom>
          <a:solidFill>
            <a:srgbClr val="33435B"/>
          </a:solidFill>
          <a:ln w="7620">
            <a:solidFill>
              <a:srgbClr val="3343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244144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仍需完善与验证</a:t>
            </a:r>
            <a:endParaRPr lang="zh-CN" sz="1100" dirty="0"/>
          </a:p>
        </p:txBody>
      </p:sp>
      <p:sp>
        <p:nvSpPr>
          <p:cNvPr id="17" name="Text 15"/>
          <p:cNvSpPr/>
          <p:nvPr/>
        </p:nvSpPr>
        <p:spPr>
          <a:xfrm>
            <a:off x="6565392" y="32461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7434072" y="3200400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部分中文文案、分类入口与地图路由</a:t>
            </a:r>
            <a:endParaRPr lang="zh-CN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40599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</a:t>
            </a:r>
            <a:endParaRPr lang="zh-CN" sz="1500" dirty="0"/>
          </a:p>
        </p:txBody>
      </p:sp>
      <p:sp>
        <p:nvSpPr>
          <p:cNvPr id="20" name="Text 18"/>
          <p:cNvSpPr/>
          <p:nvPr/>
        </p:nvSpPr>
        <p:spPr>
          <a:xfrm>
            <a:off x="7434072" y="4014216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朋友页占位，聊天未形成页面闭环</a:t>
            </a:r>
            <a:endParaRPr lang="zh-CN" sz="1500" dirty="0"/>
          </a:p>
        </p:txBody>
      </p:sp>
      <p:sp>
        <p:nvSpPr>
          <p:cNvPr id="21" name="Text 19"/>
          <p:cNvSpPr/>
          <p:nvPr/>
        </p:nvSpPr>
        <p:spPr>
          <a:xfrm>
            <a:off x="6565392" y="48737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zh-CN" sz="1500" dirty="0"/>
          </a:p>
        </p:txBody>
      </p:sp>
      <p:sp>
        <p:nvSpPr>
          <p:cNvPr id="22" name="Text 20"/>
          <p:cNvSpPr/>
          <p:nvPr/>
        </p:nvSpPr>
        <p:spPr>
          <a:xfrm>
            <a:off x="7434072" y="4828032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外部后端联调、真机与业务自动化测试</a:t>
            </a:r>
            <a:endParaRPr lang="zh-CN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38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迭代方向</a:t>
            </a:r>
            <a:endParaRPr lang="zh-CN" sz="11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73152" cy="438912"/>
          </a:xfrm>
          <a:prstGeom prst="rect">
            <a:avLst>
              <a:gd name="adj" fmla="val 15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731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先保证可用，再完善连接人与活动的体验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40817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按照基础体验、验证质量、功能扩展的顺序推进。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DB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 /  15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1078992" y="2615184"/>
            <a:ext cx="9930384" cy="0"/>
          </a:xfrm>
          <a:prstGeom prst="line">
            <a:avLst/>
          </a:prstGeom>
          <a:noFill/>
          <a:ln w="38100">
            <a:solidFill>
              <a:srgbClr val="DB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2404872"/>
            <a:ext cx="411480" cy="411480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118104"/>
            <a:ext cx="3346704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383280"/>
            <a:ext cx="2889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完善基础体验</a:t>
            </a:r>
            <a:endParaRPr lang="zh-CN" sz="2100" dirty="0"/>
          </a:p>
        </p:txBody>
      </p:sp>
      <p:sp>
        <p:nvSpPr>
          <p:cNvPr id="14" name="Text 12"/>
          <p:cNvSpPr/>
          <p:nvPr/>
        </p:nvSpPr>
        <p:spPr>
          <a:xfrm>
            <a:off x="886968" y="395020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FF52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让现有路径更顺畅</a:t>
            </a:r>
            <a:endParaRPr lang="zh-CN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4517136"/>
            <a:ext cx="2889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修正文案与分类跳转</a:t>
            </a:r>
            <a:endParaRPr lang="zh-CN" sz="1500" dirty="0"/>
          </a:p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校验地址与坐标一致性</a:t>
            </a:r>
            <a:endParaRPr lang="zh-CN" sz="1500" dirty="0"/>
          </a:p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梳理登录与错误反馈</a:t>
            </a:r>
            <a:endParaRPr lang="zh-CN" sz="1500" dirty="0"/>
          </a:p>
        </p:txBody>
      </p:sp>
      <p:sp>
        <p:nvSpPr>
          <p:cNvPr id="16" name="Shape 14"/>
          <p:cNvSpPr/>
          <p:nvPr/>
        </p:nvSpPr>
        <p:spPr>
          <a:xfrm>
            <a:off x="4645152" y="2404872"/>
            <a:ext cx="411480" cy="411480"/>
          </a:xfrm>
          <a:prstGeom prst="ellipse">
            <a:avLst/>
          </a:prstGeom>
          <a:solidFill>
            <a:srgbClr val="069D95"/>
          </a:solidFill>
          <a:ln w="12700">
            <a:solidFill>
              <a:srgbClr val="069D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300" dirty="0"/>
          </a:p>
        </p:txBody>
      </p:sp>
      <p:sp>
        <p:nvSpPr>
          <p:cNvPr id="18" name="Shape 16"/>
          <p:cNvSpPr/>
          <p:nvPr/>
        </p:nvSpPr>
        <p:spPr>
          <a:xfrm>
            <a:off x="4416552" y="3118104"/>
            <a:ext cx="3346704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3383280"/>
            <a:ext cx="2889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补齐验证与部署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645152" y="395020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069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让结果可复现</a:t>
            </a:r>
            <a:endParaRPr lang="zh-CN" sz="1300" dirty="0"/>
          </a:p>
        </p:txBody>
      </p:sp>
      <p:sp>
        <p:nvSpPr>
          <p:cNvPr id="21" name="Text 19"/>
          <p:cNvSpPr/>
          <p:nvPr/>
        </p:nvSpPr>
        <p:spPr>
          <a:xfrm>
            <a:off x="4645152" y="4517136"/>
            <a:ext cx="2889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完成真机与后端联调</a:t>
            </a:r>
            <a:endParaRPr lang="zh-CN" sz="1500" dirty="0"/>
          </a:p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补充关键业务测试</a:t>
            </a:r>
            <a:endParaRPr lang="zh-CN" sz="1500" dirty="0"/>
          </a:p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完善后端授权与部署说明</a:t>
            </a:r>
            <a:endParaRPr lang="zh-CN" sz="1500" dirty="0"/>
          </a:p>
        </p:txBody>
      </p:sp>
      <p:sp>
        <p:nvSpPr>
          <p:cNvPr id="22" name="Shape 20"/>
          <p:cNvSpPr/>
          <p:nvPr/>
        </p:nvSpPr>
        <p:spPr>
          <a:xfrm>
            <a:off x="8403336" y="2404872"/>
            <a:ext cx="411480" cy="411480"/>
          </a:xfrm>
          <a:prstGeom prst="ellipse">
            <a:avLst/>
          </a:prstGeom>
          <a:solidFill>
            <a:srgbClr val="12243E"/>
          </a:solidFill>
          <a:ln w="12700">
            <a:solidFill>
              <a:srgbClr val="1224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336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300" dirty="0"/>
          </a:p>
        </p:txBody>
      </p:sp>
      <p:sp>
        <p:nvSpPr>
          <p:cNvPr id="24" name="Shape 22"/>
          <p:cNvSpPr/>
          <p:nvPr/>
        </p:nvSpPr>
        <p:spPr>
          <a:xfrm>
            <a:off x="8174736" y="3118104"/>
            <a:ext cx="3346704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03336" y="3383280"/>
            <a:ext cx="2889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扩展社交与推荐</a:t>
            </a:r>
            <a:endParaRPr lang="zh-CN" sz="2100" dirty="0"/>
          </a:p>
        </p:txBody>
      </p:sp>
      <p:sp>
        <p:nvSpPr>
          <p:cNvPr id="26" name="Text 24"/>
          <p:cNvSpPr/>
          <p:nvPr/>
        </p:nvSpPr>
        <p:spPr>
          <a:xfrm>
            <a:off x="8403336" y="395020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224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让兴趣关系持续发生</a:t>
            </a:r>
            <a:endParaRPr lang="zh-CN" sz="1300" dirty="0"/>
          </a:p>
        </p:txBody>
      </p:sp>
      <p:sp>
        <p:nvSpPr>
          <p:cNvPr id="27" name="Text 25"/>
          <p:cNvSpPr/>
          <p:nvPr/>
        </p:nvSpPr>
        <p:spPr>
          <a:xfrm>
            <a:off x="8403336" y="4517136"/>
            <a:ext cx="2889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完善好友申请与聊天</a:t>
            </a:r>
            <a:endParaRPr lang="zh-CN" sz="1500" dirty="0"/>
          </a:p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实现地图浏览与活动推荐</a:t>
            </a:r>
            <a:endParaRPr lang="zh-CN" sz="1500" dirty="0"/>
          </a:p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rgbClr val="6371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持续打磨多端适配</a:t>
            </a:r>
            <a:endParaRPr lang="zh-CN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INTEREST CONNECTS US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8458200" y="1280160"/>
            <a:ext cx="2286000" cy="2286000"/>
          </a:xfrm>
          <a:prstGeom prst="ellipse">
            <a:avLst/>
          </a:prstGeom>
          <a:solidFill>
            <a:srgbClr val="253B55"/>
          </a:solidFill>
          <a:ln w="12700">
            <a:solidFill>
              <a:srgbClr val="253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02368" y="3127248"/>
            <a:ext cx="987552" cy="987552"/>
          </a:xfrm>
          <a:prstGeom prst="ellipse">
            <a:avLst/>
          </a:prstGeom>
          <a:solidFill>
            <a:srgbClr val="069D95"/>
          </a:solidFill>
          <a:ln w="12700">
            <a:solidFill>
              <a:srgbClr val="069D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56448" y="3986784"/>
            <a:ext cx="1234440" cy="1234440"/>
          </a:xfrm>
          <a:prstGeom prst="ellipse">
            <a:avLst/>
          </a:prstGeom>
          <a:solidFill>
            <a:srgbClr val="FF526A"/>
          </a:solidFill>
          <a:ln w="12700">
            <a:solidFill>
              <a:srgbClr val="FF52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2423160"/>
            <a:ext cx="694944" cy="1197864"/>
          </a:xfrm>
          <a:prstGeom prst="line">
            <a:avLst/>
          </a:prstGeom>
          <a:noFill/>
          <a:ln w="22860">
            <a:solidFill>
              <a:srgbClr val="A6B4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8769096" y="3621024"/>
            <a:ext cx="1527048" cy="978408"/>
          </a:xfrm>
          <a:prstGeom prst="line">
            <a:avLst/>
          </a:prstGeom>
          <a:noFill/>
          <a:ln w="22860">
            <a:solidFill>
              <a:srgbClr val="A6B4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91640"/>
            <a:ext cx="749808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zh-CN" alt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围绕兴趣聚人</a:t>
            </a:r>
            <a:endParaRPr lang="zh-CN" sz="4200" dirty="0"/>
          </a:p>
          <a:p>
            <a:pPr indent="0" marL="0">
              <a:lnSpc>
                <a:spcPct val="116000"/>
              </a:lnSpc>
              <a:buNone/>
            </a:pPr>
            <a:r>
              <a:rPr lang="zh-CN" alt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围绕活动成队</a:t>
            </a:r>
            <a:endParaRPr lang="zh-CN" sz="4200" dirty="0"/>
          </a:p>
        </p:txBody>
      </p:sp>
      <p:sp>
        <p:nvSpPr>
          <p:cNvPr id="9" name="Shape 7"/>
          <p:cNvSpPr/>
          <p:nvPr/>
        </p:nvSpPr>
        <p:spPr>
          <a:xfrm>
            <a:off x="740664" y="3968496"/>
            <a:ext cx="658368" cy="54864"/>
          </a:xfrm>
          <a:prstGeom prst="rect">
            <a:avLst>
              <a:gd name="adj" fmla="val 200000"/>
            </a:avLst>
          </a:prstGeom>
          <a:solidFill>
            <a:srgbClr val="FF526A"/>
          </a:solidFill>
          <a:ln w="7620">
            <a:solidFill>
              <a:srgbClr val="FF52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446227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感谢聆听，敬请各位老师批评指正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740664" y="5276088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·  HarmonyOS 应用开发实践</a:t>
            </a:r>
            <a:endParaRPr lang="zh-CN" sz="16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740664" y="5797296"/>
            <a:ext cx="7315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u="sng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项目仓库：github.com/OldGuestInBreeze/-1</a:t>
            </a:r>
            <a:endParaRPr lang="zh-CN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6409944"/>
            <a:ext cx="11045952" cy="0"/>
          </a:xfrm>
          <a:prstGeom prst="line">
            <a:avLst/>
          </a:prstGeom>
          <a:noFill/>
          <a:ln w="8890">
            <a:solidFill>
              <a:srgbClr val="3446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兴趣小队  /  项目答辩</a:t>
            </a:r>
            <a:endParaRPr lang="zh-CN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A6B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 /  15</a:t>
            </a:r>
            <a:endParaRPr lang="zh-CN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兴趣小队｜项目答辩</dc:title>
  <dc:subject>基于 HarmonyOS 的兴趣活动组队应用 · 项目答辩</dc:subject>
  <dc:creator>兴趣小队</dc:creator>
  <cp:lastModifiedBy>兴趣小队</cp:lastModifiedBy>
  <cp:revision>1</cp:revision>
  <dcterms:created xsi:type="dcterms:W3CDTF">2026-09-17T15:19:40Z</dcterms:created>
  <dcterms:modified xsi:type="dcterms:W3CDTF">2026-09-17T15:19:40Z</dcterms:modified>
</cp:coreProperties>
</file>